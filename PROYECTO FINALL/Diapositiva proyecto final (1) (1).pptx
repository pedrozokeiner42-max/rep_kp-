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0" r:id="rId9"/>
    <p:sldId id="277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9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NA" initials="S" lastIdx="2" clrIdx="0">
    <p:extLst>
      <p:ext uri="{19B8F6BF-5375-455C-9EA6-DF929625EA0E}">
        <p15:presenceInfo xmlns:p15="http://schemas.microsoft.com/office/powerpoint/2012/main" userId="SEN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96" autoAdjust="0"/>
  </p:normalViewPr>
  <p:slideViewPr>
    <p:cSldViewPr snapToGrid="0" snapToObjects="1">
      <p:cViewPr varScale="1">
        <p:scale>
          <a:sx n="108" d="100"/>
          <a:sy n="108" d="100"/>
        </p:scale>
        <p:origin x="67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07T07:48:19.860" idx="2">
    <p:pos x="10" y="10"/>
    <p:text/>
    <p:extLst>
      <p:ext uri="{C676402C-5697-4E1C-873F-D02D1690AC5C}">
        <p15:threadingInfo xmlns:p15="http://schemas.microsoft.com/office/powerpoint/2012/main" timeZoneBias="30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04T08:57:17.487" idx="1">
    <p:pos x="10" y="10"/>
    <p:text/>
    <p:extLst>
      <p:ext uri="{C676402C-5697-4E1C-873F-D02D1690AC5C}">
        <p15:threadingInfo xmlns:p15="http://schemas.microsoft.com/office/powerpoint/2012/main" timeZoneBias="30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DO_DASHBOARD8220213628170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360"/>
            <a:ext cx="12191695" cy="6263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14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963" y="0"/>
            <a:ext cx="6629400" cy="6858000"/>
          </a:xfrm>
          <a:prstGeom prst="rect">
            <a:avLst/>
          </a:prstGeom>
          <a:solidFill>
            <a:srgbClr val="14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BBEDC"/>
                </a:solidFill>
                <a:latin typeface="Aptos"/>
              </a:defRPr>
            </a:pPr>
            <a:r>
              <a:t>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5778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Análisis de ventas</a:t>
            </a:r>
            <a:br/>
            <a:r>
              <a:t>con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8346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Dashboard basado en la tabla DataDiaUno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30551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E1EBF2"/>
                </a:solidFill>
                <a:latin typeface="Aptos"/>
              </a:defRPr>
            </a:pPr>
            <a:r>
              <a:rPr dirty="0">
                <a:latin typeface="Arial Black" panose="020B0A04020102020204" pitchFamily="34" charset="0"/>
              </a:rPr>
              <a:t>Institution</a:t>
            </a:r>
            <a:r>
              <a:rPr lang="es-CO" dirty="0">
                <a:latin typeface="Arial Black" panose="020B0A04020102020204" pitchFamily="34" charset="0"/>
              </a:rPr>
              <a:t>n</a:t>
            </a:r>
            <a:r>
              <a:rPr dirty="0"/>
              <a:t>:</a:t>
            </a:r>
            <a:r>
              <a:rPr lang="es-CO" dirty="0"/>
              <a:t> </a:t>
            </a:r>
          </a:p>
          <a:p>
            <a:pPr algn="ctr">
              <a:defRPr sz="1300" b="0">
                <a:solidFill>
                  <a:srgbClr val="E1EBF2"/>
                </a:solidFill>
                <a:latin typeface="Aptos"/>
              </a:defRPr>
            </a:pPr>
            <a:r>
              <a:rPr lang="es-CO" dirty="0"/>
              <a:t>Sena 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41809" y="4508658"/>
            <a:ext cx="1884931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E1EBF2"/>
                </a:solidFill>
                <a:latin typeface="Aptos"/>
              </a:defRPr>
            </a:pPr>
            <a:r>
              <a:rPr dirty="0">
                <a:latin typeface="Arial Black" panose="020B0A04020102020204" pitchFamily="34" charset="0"/>
              </a:rPr>
              <a:t>Program</a:t>
            </a:r>
            <a:r>
              <a:rPr lang="es-CO" dirty="0">
                <a:latin typeface="Arial Black" panose="020B0A04020102020204" pitchFamily="34" charset="0"/>
              </a:rPr>
              <a:t>a</a:t>
            </a:r>
            <a:r>
              <a:rPr dirty="0"/>
              <a:t>: </a:t>
            </a:r>
            <a:endParaRPr lang="es-CO" dirty="0"/>
          </a:p>
          <a:p>
            <a:pPr algn="ctr">
              <a:defRPr sz="1300" b="0">
                <a:solidFill>
                  <a:srgbClr val="E1EBF2"/>
                </a:solidFill>
                <a:latin typeface="Aptos"/>
              </a:defRPr>
            </a:pPr>
            <a:r>
              <a:rPr lang="es-CO" dirty="0"/>
              <a:t>Analítica de datos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2956681" y="3658774"/>
            <a:ext cx="3060071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E1EBF2"/>
                </a:solidFill>
                <a:latin typeface="Aptos"/>
              </a:defRPr>
            </a:pPr>
            <a:r>
              <a:rPr dirty="0">
                <a:latin typeface="Arial Black" panose="020B0A04020102020204" pitchFamily="34" charset="0"/>
              </a:rPr>
              <a:t>Integrantes:</a:t>
            </a:r>
            <a:r>
              <a:rPr lang="es-CO" dirty="0">
                <a:latin typeface="Arial Black" panose="020B0A04020102020204" pitchFamily="34" charset="0"/>
              </a:rPr>
              <a:t> </a:t>
            </a:r>
          </a:p>
          <a:p>
            <a:pPr algn="ctr">
              <a:defRPr sz="1300" b="0">
                <a:solidFill>
                  <a:srgbClr val="E1EBF2"/>
                </a:solidFill>
                <a:latin typeface="Aptos"/>
              </a:defRPr>
            </a:pPr>
            <a:r>
              <a:rPr lang="es-CO" dirty="0">
                <a:latin typeface="Aptos"/>
              </a:rPr>
              <a:t>Andres Castellar </a:t>
            </a:r>
          </a:p>
          <a:p>
            <a:pPr algn="ctr">
              <a:defRPr sz="1300" b="0">
                <a:solidFill>
                  <a:srgbClr val="E1EBF2"/>
                </a:solidFill>
                <a:latin typeface="Aptos"/>
              </a:defRPr>
            </a:pPr>
            <a:r>
              <a:rPr lang="es-CO" dirty="0">
                <a:latin typeface="Aptos"/>
              </a:rPr>
              <a:t>Keiner Pedrozo </a:t>
            </a:r>
            <a:endParaRPr dirty="0"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54394" y="4528379"/>
            <a:ext cx="2064643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E1EBF2"/>
                </a:solidFill>
                <a:latin typeface="Aptos"/>
              </a:defRPr>
            </a:pPr>
            <a:r>
              <a:rPr dirty="0">
                <a:latin typeface="Arial Black" panose="020B0A04020102020204" pitchFamily="34" charset="0"/>
              </a:rPr>
              <a:t>Docent</a:t>
            </a:r>
            <a:r>
              <a:rPr lang="es-CO" dirty="0">
                <a:latin typeface="Arial Black" panose="020B0A04020102020204" pitchFamily="34" charset="0"/>
              </a:rPr>
              <a:t>e</a:t>
            </a:r>
            <a:r>
              <a:rPr dirty="0"/>
              <a:t>: </a:t>
            </a:r>
            <a:endParaRPr lang="es-CO" dirty="0"/>
          </a:p>
          <a:p>
            <a:pPr algn="ctr">
              <a:defRPr sz="1300" b="0">
                <a:solidFill>
                  <a:srgbClr val="E1EBF2"/>
                </a:solidFill>
                <a:latin typeface="Aptos"/>
              </a:defRPr>
            </a:pPr>
            <a:r>
              <a:rPr lang="es-CO" dirty="0"/>
              <a:t>Jonathan Robledo 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915400" y="161220"/>
            <a:ext cx="53035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1EBF2"/>
                </a:solidFill>
                <a:latin typeface="Aptos"/>
              </a:defRPr>
            </a:pPr>
            <a:r>
              <a:rPr lang="es-CO" dirty="0"/>
              <a:t>03 / Septiembre / 2026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ECDD7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891C8"/>
                </a:solidFill>
                <a:latin typeface="Aptos"/>
              </a:defRPr>
            </a:pPr>
            <a:r>
              <a:rPr dirty="0"/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t>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0972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1417320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472184"/>
            <a:ext cx="105887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2C46"/>
                </a:solidFill>
                <a:latin typeface="Aptos"/>
              </a:defRPr>
            </a:pPr>
            <a:r>
              <a:t>¿Qué problema se busca resolver?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56231"/>
            <a:ext cx="1058875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B353F"/>
                </a:solidFill>
                <a:latin typeface="Aptos"/>
              </a:defRPr>
            </a:pPr>
            <a:r>
              <a:rPr dirty="0"/>
              <a:t>El proyecto </a:t>
            </a:r>
            <a:r>
              <a:rPr dirty="0" err="1"/>
              <a:t>reúne</a:t>
            </a:r>
            <a:r>
              <a:rPr dirty="0"/>
              <a:t> </a:t>
            </a:r>
            <a:r>
              <a:rPr dirty="0" err="1"/>
              <a:t>información</a:t>
            </a:r>
            <a:r>
              <a:rPr dirty="0"/>
              <a:t> de </a:t>
            </a:r>
            <a:r>
              <a:rPr dirty="0" err="1"/>
              <a:t>ventas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sola </a:t>
            </a:r>
            <a:r>
              <a:rPr dirty="0" err="1"/>
              <a:t>tabla</a:t>
            </a:r>
            <a:r>
              <a:rPr dirty="0"/>
              <a:t> y la </a:t>
            </a:r>
            <a:r>
              <a:rPr dirty="0" err="1"/>
              <a:t>convierte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dashboard para </a:t>
            </a:r>
            <a:r>
              <a:rPr dirty="0" err="1"/>
              <a:t>observar</a:t>
            </a:r>
            <a:r>
              <a:rPr dirty="0"/>
              <a:t> </a:t>
            </a:r>
            <a:r>
              <a:rPr dirty="0" err="1"/>
              <a:t>ventas</a:t>
            </a:r>
            <a:r>
              <a:rPr dirty="0"/>
              <a:t>, </a:t>
            </a:r>
            <a:r>
              <a:rPr dirty="0" err="1"/>
              <a:t>costos</a:t>
            </a:r>
            <a:r>
              <a:rPr dirty="0"/>
              <a:t>, </a:t>
            </a:r>
            <a:r>
              <a:rPr dirty="0" err="1"/>
              <a:t>unidades</a:t>
            </a:r>
            <a:r>
              <a:rPr dirty="0"/>
              <a:t>, ganancia, </a:t>
            </a:r>
            <a:r>
              <a:rPr dirty="0" err="1"/>
              <a:t>margen</a:t>
            </a:r>
            <a:r>
              <a:rPr dirty="0"/>
              <a:t>, </a:t>
            </a:r>
            <a:r>
              <a:rPr dirty="0" err="1"/>
              <a:t>ubicación</a:t>
            </a:r>
            <a:r>
              <a:rPr dirty="0"/>
              <a:t> </a:t>
            </a:r>
            <a:r>
              <a:rPr dirty="0" err="1"/>
              <a:t>geográfica</a:t>
            </a:r>
            <a:r>
              <a:rPr dirty="0"/>
              <a:t>, </a:t>
            </a:r>
            <a:r>
              <a:rPr dirty="0" err="1"/>
              <a:t>productos</a:t>
            </a:r>
            <a:r>
              <a:rPr dirty="0"/>
              <a:t> y </a:t>
            </a:r>
            <a:r>
              <a:rPr dirty="0" err="1"/>
              <a:t>clientes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53035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64008" cy="2331720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3118104"/>
            <a:ext cx="4919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2C46"/>
                </a:solidFill>
                <a:latin typeface="Aptos"/>
              </a:defRPr>
            </a:pPr>
            <a:r>
              <a:t>¿Qué contiene el proyecto?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502152"/>
            <a:ext cx="4919472" cy="167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B353F"/>
                </a:solidFill>
                <a:latin typeface="Aptos"/>
              </a:defRPr>
            </a:pPr>
            <a:r>
              <a:t>• Una tabla: DataDiaUno.</a:t>
            </a:r>
            <a:br/>
            <a:r>
              <a:t>• Medidas DAX para los principales indicadores.</a:t>
            </a:r>
            <a:br/>
            <a:r>
              <a:t>• Tres páginas de análisis: Ventas y Geografía, Productos y Clientes y Análisis de Ventas.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971800"/>
            <a:ext cx="54406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2971800"/>
            <a:ext cx="64008" cy="2331720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3118104"/>
            <a:ext cx="5056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2C46"/>
                </a:solidFill>
                <a:latin typeface="Aptos"/>
              </a:defRPr>
            </a:pPr>
            <a:r>
              <a:t>¿Cómo se presenta la información?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502152"/>
            <a:ext cx="5056632" cy="167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B353F"/>
                </a:solidFill>
                <a:latin typeface="Aptos"/>
              </a:defRPr>
            </a:pPr>
            <a:r>
              <a:t>Mediante tarjetas, segmentadores, gráficos de líneas, mapas, barras, columnas, embudo, dona y árbol de descomposición.</a:t>
            </a: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t>Objetivo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08760"/>
            <a:ext cx="10469880" cy="3108960"/>
          </a:xfrm>
          <a:prstGeom prst="roundRect">
            <a:avLst/>
          </a:prstGeom>
          <a:solidFill>
            <a:srgbClr val="14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1965960"/>
            <a:ext cx="97383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rPr dirty="0" err="1"/>
              <a:t>Analizar</a:t>
            </a:r>
            <a:r>
              <a:rPr dirty="0"/>
              <a:t> las </a:t>
            </a:r>
            <a:r>
              <a:rPr dirty="0" err="1"/>
              <a:t>ventas</a:t>
            </a:r>
            <a:r>
              <a:rPr dirty="0"/>
              <a:t> </a:t>
            </a:r>
            <a:r>
              <a:rPr dirty="0" err="1"/>
              <a:t>registradas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DataDiaUno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las </a:t>
            </a:r>
            <a:r>
              <a:rPr dirty="0" err="1"/>
              <a:t>medidas</a:t>
            </a:r>
            <a:r>
              <a:rPr dirty="0"/>
              <a:t> DAX y las </a:t>
            </a:r>
            <a:r>
              <a:rPr dirty="0" err="1"/>
              <a:t>visualizaciones</a:t>
            </a:r>
            <a:r>
              <a:rPr dirty="0"/>
              <a:t> </a:t>
            </a:r>
            <a:r>
              <a:rPr dirty="0" err="1"/>
              <a:t>construidas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Power BI.</a:t>
            </a: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9622" y="926114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dirty="0" err="1"/>
              <a:t>Objetivos</a:t>
            </a:r>
            <a:r>
              <a:rPr dirty="0"/>
              <a:t> </a:t>
            </a:r>
            <a:r>
              <a:rPr dirty="0" err="1"/>
              <a:t>específicos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4598" y="1856748"/>
            <a:ext cx="9019968" cy="2367934"/>
          </a:xfrm>
          <a:prstGeom prst="roundRect">
            <a:avLst/>
          </a:prstGeom>
          <a:solidFill>
            <a:srgbClr val="14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0457" y="1716243"/>
            <a:ext cx="7732565" cy="19697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2B353F"/>
                </a:solidFill>
                <a:latin typeface="Aptos"/>
              </a:defRPr>
            </a:pPr>
            <a:endParaRPr lang="es-MX" dirty="0"/>
          </a:p>
          <a:p>
            <a:pPr>
              <a:defRPr sz="1300" b="0">
                <a:solidFill>
                  <a:srgbClr val="2B353F"/>
                </a:solidFill>
                <a:latin typeface="Aptos"/>
              </a:defRPr>
            </a:pPr>
            <a:endParaRPr lang="es-MX" dirty="0"/>
          </a:p>
          <a:p>
            <a:pPr>
              <a:defRPr sz="1300" b="0">
                <a:solidFill>
                  <a:srgbClr val="2B353F"/>
                </a:solidFill>
                <a:latin typeface="Aptos"/>
              </a:defRPr>
            </a:pPr>
            <a:r>
              <a:rPr lang="es-MX" sz="1600" dirty="0">
                <a:solidFill>
                  <a:schemeClr val="bg1"/>
                </a:solidFill>
              </a:rPr>
              <a:t>Desarrollar un dashboard interactivo en Power BI que permita transformar datos empresariales en información clara, organizada y útil para la toma de decisiones. Para ello, se aplicarán procesos de conexión y transformación de datos mediante Power Query, creación de relaciones entre tablas, tabla calendario, medidas DAX, filtros, indicadores y diferentes visualizaciones, con el fin de identificar tendencias, analizar resultados y facilitar la interpretación de la información empresarial.</a:t>
            </a:r>
            <a:endParaRPr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0887" y="590485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dirty="0"/>
              <a:t>Concept</a:t>
            </a:r>
            <a:r>
              <a:rPr lang="es-MX" dirty="0"/>
              <a:t>o</a:t>
            </a:r>
            <a:r>
              <a:rPr dirty="0"/>
              <a:t> fundamental</a:t>
            </a:r>
            <a:r>
              <a:rPr lang="es-CO" dirty="0"/>
              <a:t> #1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79205" y="1387136"/>
            <a:ext cx="8618891" cy="3566604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1679206" y="4982379"/>
            <a:ext cx="8618890" cy="86771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uadroTexto 29"/>
          <p:cNvSpPr txBox="1"/>
          <p:nvPr/>
        </p:nvSpPr>
        <p:spPr>
          <a:xfrm>
            <a:off x="2073598" y="1685000"/>
            <a:ext cx="7688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 smtClean="0">
                <a:latin typeface="Arial Black" panose="020B0A04020102020204" pitchFamily="34" charset="0"/>
              </a:rPr>
              <a:t>Transformación y preparación de datos</a:t>
            </a:r>
          </a:p>
          <a:p>
            <a:r>
              <a:rPr lang="es-MX" sz="1600" dirty="0" smtClean="0">
                <a:latin typeface="Aptos"/>
              </a:rPr>
              <a:t/>
            </a:r>
            <a:br>
              <a:rPr lang="es-MX" sz="1600" dirty="0" smtClean="0">
                <a:latin typeface="Aptos"/>
              </a:rPr>
            </a:br>
            <a:endParaRPr lang="es-CO" sz="1600" dirty="0">
              <a:latin typeface="Aptos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2054619" y="2114818"/>
            <a:ext cx="80824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ptos" panose="020B0004020202020204"/>
              </a:rPr>
              <a:t>La transformación y preparación de datos es una etapa fundamental en Power BI, ya que permite convertir datos provenientes de distintas fuentes en información limpia, estructurada, consistente y adecuada para el análisis. A través de Power Query, se pueden realizar procesos de extracción, transformación y carga (ETL), como eliminar datos innecesarios o duplicados, corregir errores, tratar valores nulos, modificar tipos de datos, estandarizar valores y combinar información procedente de diferentes tablas o fuentes. Una correcta preparación de los datos es esencial para garantizar la calidad de la información y evitar errores en el modelo, los cálculos y las visualizaciones del dashboard.</a:t>
            </a:r>
            <a:endParaRPr lang="es-CO" sz="1600" dirty="0">
              <a:latin typeface="Aptos" panose="020B0004020202020204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dirty="0"/>
              <a:t>Concept</a:t>
            </a:r>
            <a:r>
              <a:rPr lang="es-MX" dirty="0"/>
              <a:t>o</a:t>
            </a:r>
            <a:r>
              <a:rPr dirty="0"/>
              <a:t> fundamental</a:t>
            </a:r>
            <a:r>
              <a:rPr lang="es-CO" dirty="0"/>
              <a:t> #2 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Rounded Rectangle 25"/>
          <p:cNvSpPr/>
          <p:nvPr/>
        </p:nvSpPr>
        <p:spPr>
          <a:xfrm>
            <a:off x="1666551" y="1527047"/>
            <a:ext cx="8858589" cy="3877097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CuadroTexto 28"/>
          <p:cNvSpPr txBox="1"/>
          <p:nvPr/>
        </p:nvSpPr>
        <p:spPr>
          <a:xfrm>
            <a:off x="2069821" y="1839628"/>
            <a:ext cx="71554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rial Black" panose="020B0A04020102020204" pitchFamily="34" charset="0"/>
              </a:rPr>
              <a:t>Análisis y visualización de la información</a:t>
            </a:r>
          </a:p>
          <a:p>
            <a:endParaRPr lang="es-MX" sz="1600" dirty="0">
              <a:latin typeface="Aptos"/>
            </a:endParaRPr>
          </a:p>
        </p:txBody>
      </p:sp>
      <p:sp>
        <p:nvSpPr>
          <p:cNvPr id="30" name="Rectangle 26"/>
          <p:cNvSpPr/>
          <p:nvPr/>
        </p:nvSpPr>
        <p:spPr>
          <a:xfrm>
            <a:off x="1666551" y="5404145"/>
            <a:ext cx="8858589" cy="86771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uadroTexto 5"/>
          <p:cNvSpPr txBox="1"/>
          <p:nvPr/>
        </p:nvSpPr>
        <p:spPr>
          <a:xfrm>
            <a:off x="2069821" y="2215665"/>
            <a:ext cx="80520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ptos" panose="020B0004020202020204"/>
              </a:rPr>
              <a:t>El análisis y la visualización de datos constituyen una etapa fundamental en Power BI, ya que permiten transformar los datos previamente preparados en información útil para la interpretación y la toma de decisiones. Para ello, Power BI ofrece herramientas como gráficos, tablas, tarjetas, indicadores y filtros interactivos. Además, mediante el uso de medidas DAX, relaciones entre tablas y tablas calendario, es posible realizar cálculos y análisis más avanzados, como totales, promedios, porcentajes, variaciones y comparaciones por fechas o categorías. Una adecuada selección de las visualizaciones facilita la identificación de patrones, tendencias, relaciones y comportamientos, permitiendo interpretar la información de manera clara y eficiente.</a:t>
            </a:r>
            <a:endParaRPr lang="es-CO" dirty="0">
              <a:latin typeface="Aptos" panose="020B0004020202020204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dirty="0"/>
              <a:t>Concept</a:t>
            </a:r>
            <a:r>
              <a:rPr lang="es-MX" dirty="0"/>
              <a:t>o</a:t>
            </a:r>
            <a:r>
              <a:rPr dirty="0"/>
              <a:t> fundamental</a:t>
            </a:r>
            <a:r>
              <a:rPr lang="es-CO" dirty="0"/>
              <a:t> #3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0" name="Rounded Rectangle 25"/>
          <p:cNvSpPr/>
          <p:nvPr/>
        </p:nvSpPr>
        <p:spPr>
          <a:xfrm>
            <a:off x="1666552" y="1671220"/>
            <a:ext cx="9128695" cy="3798601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6"/>
          <p:cNvSpPr/>
          <p:nvPr/>
        </p:nvSpPr>
        <p:spPr>
          <a:xfrm>
            <a:off x="1666552" y="5469822"/>
            <a:ext cx="9128695" cy="86771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uadroTexto 21"/>
          <p:cNvSpPr txBox="1"/>
          <p:nvPr/>
        </p:nvSpPr>
        <p:spPr>
          <a:xfrm>
            <a:off x="2100232" y="1826262"/>
            <a:ext cx="8424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 Black" panose="020B0A04020102020204" pitchFamily="34" charset="0"/>
              </a:rPr>
              <a:t>Toma de decisiones empresariales</a:t>
            </a:r>
          </a:p>
          <a:p>
            <a:endParaRPr lang="es-MX" dirty="0"/>
          </a:p>
        </p:txBody>
      </p:sp>
      <p:sp>
        <p:nvSpPr>
          <p:cNvPr id="3" name="CuadroTexto 2"/>
          <p:cNvSpPr txBox="1"/>
          <p:nvPr/>
        </p:nvSpPr>
        <p:spPr>
          <a:xfrm>
            <a:off x="2100232" y="2400234"/>
            <a:ext cx="82739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ptos" panose="020B0004020202020204"/>
              </a:rPr>
              <a:t>La toma de decisiones empresariales representa el objetivo final del proceso de análisis y visualización de datos, ya que permite utilizar la información obtenida para orientar las acciones de una organización. Un dashboard debe facilitar la comprensión de los principales resultados del negocio y destacar los aspectos que requieren atención. A través de indicadores relacionados con ventas, clientes, ingresos, gastos y rendimiento, los responsables pueden identificar oportunidades, detectar problemas, comparar períodos y evaluar estrategias. De esta manera, el análisis de datos permite tomar decisiones basadas en información confiable y actualizada, reduciendo la dependencia de suposiciones y contribuyendo a una gestión empresarial más eficiente.</a:t>
            </a:r>
            <a:endParaRPr lang="es-CO" sz="1600" dirty="0">
              <a:latin typeface="Aptos" panose="020B0004020202020204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ángulo 2"/>
          <p:cNvSpPr/>
          <p:nvPr/>
        </p:nvSpPr>
        <p:spPr>
          <a:xfrm>
            <a:off x="71021" y="186432"/>
            <a:ext cx="7119891" cy="636528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/>
          <p:cNvSpPr txBox="1"/>
          <p:nvPr/>
        </p:nvSpPr>
        <p:spPr>
          <a:xfrm>
            <a:off x="7190912" y="186433"/>
            <a:ext cx="474067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tx2"/>
                </a:solidFill>
                <a:latin typeface="Arial Black" panose="020B0A04020102020204" pitchFamily="34" charset="0"/>
              </a:rPr>
              <a:t>Power Query – Pasos </a:t>
            </a:r>
            <a:r>
              <a:rPr lang="es-MX" b="1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aplicados</a:t>
            </a:r>
          </a:p>
          <a:p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>
                <a:latin typeface="Aptos"/>
              </a:rPr>
              <a:t>Se </a:t>
            </a:r>
            <a:r>
              <a:rPr lang="es-MX" dirty="0">
                <a:latin typeface="Aptos"/>
              </a:rPr>
              <a:t>revisaron y ajustaron los nombres y tipos de datos de las columnas</a:t>
            </a:r>
            <a:r>
              <a:rPr lang="es-MX" dirty="0" smtClean="0">
                <a:latin typeface="Aptos"/>
              </a:rPr>
              <a:t>.</a:t>
            </a:r>
          </a:p>
          <a:p>
            <a:endParaRPr lang="es-MX" dirty="0" smtClean="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>
                <a:latin typeface="Aptos"/>
              </a:rPr>
              <a:t>Se </a:t>
            </a:r>
            <a:r>
              <a:rPr lang="es-MX" dirty="0">
                <a:latin typeface="Aptos"/>
              </a:rPr>
              <a:t>reorganizaron las columnas para facilitar el análisis</a:t>
            </a:r>
            <a:r>
              <a:rPr lang="es-MX" dirty="0" smtClean="0">
                <a:latin typeface="Aptos"/>
              </a:rPr>
              <a:t>.</a:t>
            </a:r>
          </a:p>
          <a:p>
            <a:endParaRPr lang="es-MX" dirty="0" smtClean="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>
                <a:latin typeface="Aptos"/>
              </a:rPr>
              <a:t>Se </a:t>
            </a:r>
            <a:r>
              <a:rPr lang="es-MX" dirty="0">
                <a:latin typeface="Aptos"/>
              </a:rPr>
              <a:t>creó una nueva columna Continente, debido a que la clasificación anterior presentaba inconsistencias, por ejemplo, países asignados al continente incorrecto</a:t>
            </a:r>
            <a:r>
              <a:rPr lang="es-MX" dirty="0" smtClean="0">
                <a:latin typeface="Aptos"/>
              </a:rPr>
              <a:t>.</a:t>
            </a:r>
          </a:p>
          <a:p>
            <a:endParaRPr lang="es-MX" dirty="0" smtClean="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>
                <a:latin typeface="Aptos"/>
              </a:rPr>
              <a:t>Se </a:t>
            </a:r>
            <a:r>
              <a:rPr lang="es-MX" dirty="0">
                <a:latin typeface="Aptos"/>
              </a:rPr>
              <a:t>agregaron tres columnas calculadas para obtener nuevos indicadores:Precio Total: Precio Unitario × Cantidad.Costo Total: Costo Unitario × Cantidad.Utilidad: Precio Total − Costo Total</a:t>
            </a:r>
            <a:r>
              <a:rPr lang="es-MX" dirty="0" smtClean="0">
                <a:latin typeface="Aptos"/>
              </a:rPr>
              <a:t>.</a:t>
            </a:r>
          </a:p>
          <a:p>
            <a:endParaRPr lang="es-MX" dirty="0" smtClean="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>
                <a:latin typeface="Aptos"/>
              </a:rPr>
              <a:t>Finalmente</a:t>
            </a:r>
            <a:r>
              <a:rPr lang="es-MX" dirty="0">
                <a:latin typeface="Aptos"/>
              </a:rPr>
              <a:t>, se verificó que los datos quedaran organizados y listos para utilizarlos en el dashboard de Power BI.</a:t>
            </a:r>
            <a:endParaRPr lang="es-CO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92995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6"/>
          <p:cNvSpPr/>
          <p:nvPr/>
        </p:nvSpPr>
        <p:spPr>
          <a:xfrm>
            <a:off x="8309499" y="6480698"/>
            <a:ext cx="3517978" cy="86771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uadroTexto 5"/>
          <p:cNvSpPr txBox="1"/>
          <p:nvPr/>
        </p:nvSpPr>
        <p:spPr>
          <a:xfrm>
            <a:off x="1056442" y="582388"/>
            <a:ext cx="714652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700" b="1" dirty="0">
                <a:latin typeface="Aptos"/>
              </a:rPr>
              <a:t>Columnas y Dax utilizados </a:t>
            </a:r>
            <a:endParaRPr lang="es-CO" sz="2700" b="1" dirty="0">
              <a:latin typeface="Aptos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763480" y="1358283"/>
            <a:ext cx="68358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Total Ventas = SUM(DataDiaUno[Precio Total])</a:t>
            </a:r>
          </a:p>
          <a:p>
            <a:endParaRPr lang="es-C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Total Costo = SUM(DataDiaUno[Costo Total])</a:t>
            </a:r>
          </a:p>
          <a:p>
            <a:endParaRPr lang="es-C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Ganancia Total = [Total Ventas] - [Total Costo]</a:t>
            </a:r>
          </a:p>
          <a:p>
            <a:endParaRPr lang="es-C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% Margen = DIVIDE([Ganancia Total], [Total Ventas], 0)</a:t>
            </a:r>
          </a:p>
          <a:p>
            <a:endParaRPr lang="es-C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Total Unidades = SUM(DataDiaUno[Cantidad])</a:t>
            </a:r>
          </a:p>
          <a:p>
            <a:endParaRPr lang="es-C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Clientes Únicos = DISTINCTCOUNT(DataDiaUno[Nombre cliente])</a:t>
            </a:r>
          </a:p>
          <a:p>
            <a:endParaRPr lang="es-C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Dax Ticket Promedio = DIVIDE([Dax Total Ventas], COUNT(DataDiaUno[Precio Total]))</a:t>
            </a:r>
          </a:p>
        </p:txBody>
      </p:sp>
      <p:sp>
        <p:nvSpPr>
          <p:cNvPr id="8" name="Rectángulo 7"/>
          <p:cNvSpPr/>
          <p:nvPr/>
        </p:nvSpPr>
        <p:spPr>
          <a:xfrm>
            <a:off x="8309499" y="674703"/>
            <a:ext cx="3517978" cy="5805995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357620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891C8"/>
                </a:solidFill>
                <a:latin typeface="Aptos"/>
              </a:defRPr>
            </a:pPr>
            <a:r>
              <a:rPr dirty="0"/>
              <a:t>PÁGINA 1 — VENTAS Y GEOGRAFÍA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lang="es-MX" dirty="0"/>
              <a:t>Visualización de explicación</a:t>
            </a:r>
            <a:r>
              <a:rPr dirty="0"/>
              <a:t> </a:t>
            </a:r>
            <a:r>
              <a:rPr dirty="0" err="1"/>
              <a:t>práctic</a:t>
            </a:r>
            <a:r>
              <a:rPr lang="es-CO" dirty="0"/>
              <a:t>a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11018520" cy="519379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ángulo redondeado 15"/>
          <p:cNvSpPr/>
          <p:nvPr/>
        </p:nvSpPr>
        <p:spPr>
          <a:xfrm>
            <a:off x="807720" y="1340528"/>
            <a:ext cx="10576560" cy="4962618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891C8"/>
                </a:solidFill>
                <a:latin typeface="Aptos"/>
              </a:defRPr>
            </a:pPr>
            <a:r>
              <a:t>PÁGINA 2 — PRODUCTOS Y CLIENTES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42C46"/>
                </a:solidFill>
                <a:latin typeface="Aptos"/>
              </a:defRPr>
            </a:pPr>
            <a:r>
              <a:rPr lang="es-MX" dirty="0"/>
              <a:t>Visualización de explicación práctica</a:t>
            </a:r>
          </a:p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8" name="Rounded Rectangle 5"/>
          <p:cNvSpPr/>
          <p:nvPr/>
        </p:nvSpPr>
        <p:spPr>
          <a:xfrm>
            <a:off x="594359" y="1234440"/>
            <a:ext cx="11384281" cy="519379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ángulo redondeado 28"/>
          <p:cNvSpPr/>
          <p:nvPr/>
        </p:nvSpPr>
        <p:spPr>
          <a:xfrm>
            <a:off x="781011" y="1402672"/>
            <a:ext cx="11029989" cy="4820575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891C8"/>
                </a:solidFill>
                <a:latin typeface="Aptos"/>
              </a:defRPr>
            </a:pPr>
            <a:r>
              <a:rPr dirty="0"/>
              <a:t>PÁGINA 3 — ANÁLISIS DE VENTAS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42C46"/>
                </a:solidFill>
                <a:latin typeface="Aptos"/>
              </a:defRPr>
            </a:pPr>
            <a:r>
              <a:rPr lang="es-MX" dirty="0"/>
              <a:t>Visualización de explicación práctica</a:t>
            </a:r>
          </a:p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22" name="Rounded Rectangle 5"/>
          <p:cNvSpPr/>
          <p:nvPr/>
        </p:nvSpPr>
        <p:spPr>
          <a:xfrm>
            <a:off x="594359" y="1234440"/>
            <a:ext cx="11163301" cy="519379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ángulo redondeado 22"/>
          <p:cNvSpPr/>
          <p:nvPr/>
        </p:nvSpPr>
        <p:spPr>
          <a:xfrm>
            <a:off x="790113" y="1402672"/>
            <a:ext cx="10754187" cy="4820575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88775" y="6114539"/>
            <a:ext cx="502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rPr dirty="0"/>
              <a:t>12</a:t>
            </a:r>
          </a:p>
        </p:txBody>
      </p:sp>
      <p:sp>
        <p:nvSpPr>
          <p:cNvPr id="24" name="Rounded Rectangle 5">
            <a:extLst>
              <a:ext uri="{FF2B5EF4-FFF2-40B4-BE49-F238E27FC236}">
                <a16:creationId xmlns:a16="http://schemas.microsoft.com/office/drawing/2014/main" id="{36979A89-1545-6DA0-0F69-687DDAA8BBB4}"/>
              </a:ext>
            </a:extLst>
          </p:cNvPr>
          <p:cNvSpPr/>
          <p:nvPr/>
        </p:nvSpPr>
        <p:spPr>
          <a:xfrm>
            <a:off x="1104999" y="899089"/>
            <a:ext cx="2124777" cy="570297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585B23B-694A-251C-87D0-D64A5EF36B28}"/>
              </a:ext>
            </a:extLst>
          </p:cNvPr>
          <p:cNvSpPr txBox="1"/>
          <p:nvPr/>
        </p:nvSpPr>
        <p:spPr>
          <a:xfrm>
            <a:off x="1346231" y="1036131"/>
            <a:ext cx="1642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Total Costo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802DE7E8-DC2A-C841-4FEB-7692C81B3D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61" t="836" r="991" b="84999"/>
          <a:stretch>
            <a:fillRect/>
          </a:stretch>
        </p:blipFill>
        <p:spPr>
          <a:xfrm>
            <a:off x="853039" y="67081"/>
            <a:ext cx="9411101" cy="890457"/>
          </a:xfrm>
          <a:prstGeom prst="rect">
            <a:avLst/>
          </a:prstGeom>
        </p:spPr>
      </p:pic>
      <p:sp>
        <p:nvSpPr>
          <p:cNvPr id="29" name="Rounded Rectangle 5">
            <a:extLst>
              <a:ext uri="{FF2B5EF4-FFF2-40B4-BE49-F238E27FC236}">
                <a16:creationId xmlns:a16="http://schemas.microsoft.com/office/drawing/2014/main" id="{7E2032FD-C0F8-0150-C72F-6E5B37AB7BB1}"/>
              </a:ext>
            </a:extLst>
          </p:cNvPr>
          <p:cNvSpPr/>
          <p:nvPr/>
        </p:nvSpPr>
        <p:spPr>
          <a:xfrm>
            <a:off x="3413565" y="933847"/>
            <a:ext cx="2001057" cy="524733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9C215A3-439F-B292-539E-DA0DB55A3BD4}"/>
              </a:ext>
            </a:extLst>
          </p:cNvPr>
          <p:cNvSpPr txBox="1"/>
          <p:nvPr/>
        </p:nvSpPr>
        <p:spPr>
          <a:xfrm>
            <a:off x="3533570" y="1024619"/>
            <a:ext cx="1708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total ventas</a:t>
            </a:r>
          </a:p>
        </p:txBody>
      </p:sp>
      <p:sp>
        <p:nvSpPr>
          <p:cNvPr id="31" name="Rounded Rectangle 5">
            <a:extLst>
              <a:ext uri="{FF2B5EF4-FFF2-40B4-BE49-F238E27FC236}">
                <a16:creationId xmlns:a16="http://schemas.microsoft.com/office/drawing/2014/main" id="{38418BD7-9396-0FD9-A4B1-B57BC11835E0}"/>
              </a:ext>
            </a:extLst>
          </p:cNvPr>
          <p:cNvSpPr/>
          <p:nvPr/>
        </p:nvSpPr>
        <p:spPr>
          <a:xfrm>
            <a:off x="5746429" y="958430"/>
            <a:ext cx="2001057" cy="524733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Rounded Rectangle 5">
            <a:extLst>
              <a:ext uri="{FF2B5EF4-FFF2-40B4-BE49-F238E27FC236}">
                <a16:creationId xmlns:a16="http://schemas.microsoft.com/office/drawing/2014/main" id="{36FBC8BA-7B23-D85F-DD8D-521D8D2E80CD}"/>
              </a:ext>
            </a:extLst>
          </p:cNvPr>
          <p:cNvSpPr/>
          <p:nvPr/>
        </p:nvSpPr>
        <p:spPr>
          <a:xfrm>
            <a:off x="8072119" y="945693"/>
            <a:ext cx="2001057" cy="524733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Dax Margen %</a:t>
            </a:r>
            <a:endParaRPr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FE21DB0-9978-9307-989E-CC3B613870CE}"/>
              </a:ext>
            </a:extLst>
          </p:cNvPr>
          <p:cNvSpPr txBox="1"/>
          <p:nvPr/>
        </p:nvSpPr>
        <p:spPr>
          <a:xfrm>
            <a:off x="5785583" y="1018904"/>
            <a:ext cx="2001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Ganancia Total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29FF447-94FB-A55E-54A3-DFE9FE4D8A82}"/>
              </a:ext>
            </a:extLst>
          </p:cNvPr>
          <p:cNvSpPr txBox="1"/>
          <p:nvPr/>
        </p:nvSpPr>
        <p:spPr>
          <a:xfrm>
            <a:off x="8302013" y="1011547"/>
            <a:ext cx="1866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Margen %</a:t>
            </a:r>
          </a:p>
        </p:txBody>
      </p:sp>
      <p:sp>
        <p:nvSpPr>
          <p:cNvPr id="42" name="Rounded Rectangle 5">
            <a:extLst>
              <a:ext uri="{FF2B5EF4-FFF2-40B4-BE49-F238E27FC236}">
                <a16:creationId xmlns:a16="http://schemas.microsoft.com/office/drawing/2014/main" id="{FD366679-D7DE-679A-0221-B76036F335F4}"/>
              </a:ext>
            </a:extLst>
          </p:cNvPr>
          <p:cNvSpPr/>
          <p:nvPr/>
        </p:nvSpPr>
        <p:spPr>
          <a:xfrm>
            <a:off x="10499493" y="3125929"/>
            <a:ext cx="1497980" cy="38253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Dax Margen %</a:t>
            </a:r>
            <a:endParaRPr dirty="0"/>
          </a:p>
        </p:txBody>
      </p:sp>
      <p:sp>
        <p:nvSpPr>
          <p:cNvPr id="43" name="Rounded Rectangle 5">
            <a:extLst>
              <a:ext uri="{FF2B5EF4-FFF2-40B4-BE49-F238E27FC236}">
                <a16:creationId xmlns:a16="http://schemas.microsoft.com/office/drawing/2014/main" id="{656A149A-6B04-B56F-F927-656304565E76}"/>
              </a:ext>
            </a:extLst>
          </p:cNvPr>
          <p:cNvSpPr/>
          <p:nvPr/>
        </p:nvSpPr>
        <p:spPr>
          <a:xfrm>
            <a:off x="10499492" y="1219621"/>
            <a:ext cx="1519518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4" name="Rounded Rectangle 5">
            <a:extLst>
              <a:ext uri="{FF2B5EF4-FFF2-40B4-BE49-F238E27FC236}">
                <a16:creationId xmlns:a16="http://schemas.microsoft.com/office/drawing/2014/main" id="{FAC3138A-7A50-3F12-AB22-83AAA3D1AB50}"/>
              </a:ext>
            </a:extLst>
          </p:cNvPr>
          <p:cNvSpPr/>
          <p:nvPr/>
        </p:nvSpPr>
        <p:spPr>
          <a:xfrm>
            <a:off x="10499493" y="6312283"/>
            <a:ext cx="1519517" cy="369333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Dax Margen %</a:t>
            </a:r>
            <a:endParaRPr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1F5C36E7-ED18-4B86-7012-D92FF4D6D3FD}"/>
              </a:ext>
            </a:extLst>
          </p:cNvPr>
          <p:cNvSpPr txBox="1"/>
          <p:nvPr/>
        </p:nvSpPr>
        <p:spPr>
          <a:xfrm>
            <a:off x="10641863" y="1232820"/>
            <a:ext cx="1355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Fecha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A445B4B0-4318-A47B-CBBA-9ABDB0B8A7F8}"/>
              </a:ext>
            </a:extLst>
          </p:cNvPr>
          <p:cNvSpPr txBox="1"/>
          <p:nvPr/>
        </p:nvSpPr>
        <p:spPr>
          <a:xfrm>
            <a:off x="10541932" y="3146290"/>
            <a:ext cx="1519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Continente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884D8897-7349-A923-2402-E3ED9C96C87E}"/>
              </a:ext>
            </a:extLst>
          </p:cNvPr>
          <p:cNvSpPr txBox="1"/>
          <p:nvPr/>
        </p:nvSpPr>
        <p:spPr>
          <a:xfrm>
            <a:off x="10457583" y="6325059"/>
            <a:ext cx="1616225" cy="372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País</a:t>
            </a: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2E0D746D-6F1C-09A1-DA3D-FC7D235730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0" t="54231" r="79964" b="31605"/>
          <a:stretch>
            <a:fillRect/>
          </a:stretch>
        </p:blipFill>
        <p:spPr>
          <a:xfrm>
            <a:off x="166328" y="1813518"/>
            <a:ext cx="2001058" cy="890457"/>
          </a:xfrm>
          <a:prstGeom prst="rect">
            <a:avLst/>
          </a:prstGeom>
        </p:spPr>
      </p:pic>
      <p:pic>
        <p:nvPicPr>
          <p:cNvPr id="51" name="Imagen 50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9B0EF57-B48A-994F-B36E-59FE74CE9B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6" t="68823" r="80198" b="17012"/>
          <a:stretch>
            <a:fillRect/>
          </a:stretch>
        </p:blipFill>
        <p:spPr>
          <a:xfrm>
            <a:off x="166328" y="3517308"/>
            <a:ext cx="2001058" cy="890457"/>
          </a:xfrm>
          <a:prstGeom prst="rect">
            <a:avLst/>
          </a:prstGeom>
        </p:spPr>
      </p:pic>
      <p:pic>
        <p:nvPicPr>
          <p:cNvPr id="53" name="Imagen 5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D9EAD42F-36A3-D20F-87CA-2F54132105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6" t="83369" r="80198" b="2467"/>
          <a:stretch>
            <a:fillRect/>
          </a:stretch>
        </p:blipFill>
        <p:spPr>
          <a:xfrm>
            <a:off x="176308" y="5221098"/>
            <a:ext cx="1991078" cy="890458"/>
          </a:xfrm>
          <a:prstGeom prst="rect">
            <a:avLst/>
          </a:prstGeom>
        </p:spPr>
      </p:pic>
      <p:sp>
        <p:nvSpPr>
          <p:cNvPr id="54" name="Rounded Rectangle 5">
            <a:extLst>
              <a:ext uri="{FF2B5EF4-FFF2-40B4-BE49-F238E27FC236}">
                <a16:creationId xmlns:a16="http://schemas.microsoft.com/office/drawing/2014/main" id="{C3116993-9133-B336-1FF2-F7C70475B10A}"/>
              </a:ext>
            </a:extLst>
          </p:cNvPr>
          <p:cNvSpPr/>
          <p:nvPr/>
        </p:nvSpPr>
        <p:spPr>
          <a:xfrm>
            <a:off x="176308" y="2657101"/>
            <a:ext cx="2001057" cy="524733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Dax Margen %</a:t>
            </a:r>
            <a:endParaRPr dirty="0"/>
          </a:p>
        </p:txBody>
      </p:sp>
      <p:sp>
        <p:nvSpPr>
          <p:cNvPr id="55" name="Rounded Rectangle 5">
            <a:extLst>
              <a:ext uri="{FF2B5EF4-FFF2-40B4-BE49-F238E27FC236}">
                <a16:creationId xmlns:a16="http://schemas.microsoft.com/office/drawing/2014/main" id="{3F408DDA-BEEB-3172-8EDB-B99823002D77}"/>
              </a:ext>
            </a:extLst>
          </p:cNvPr>
          <p:cNvSpPr/>
          <p:nvPr/>
        </p:nvSpPr>
        <p:spPr>
          <a:xfrm>
            <a:off x="176308" y="6041019"/>
            <a:ext cx="2001057" cy="524733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Dax Margen %</a:t>
            </a:r>
            <a:endParaRPr dirty="0"/>
          </a:p>
        </p:txBody>
      </p:sp>
      <p:sp>
        <p:nvSpPr>
          <p:cNvPr id="56" name="Rounded Rectangle 5">
            <a:extLst>
              <a:ext uri="{FF2B5EF4-FFF2-40B4-BE49-F238E27FC236}">
                <a16:creationId xmlns:a16="http://schemas.microsoft.com/office/drawing/2014/main" id="{9AE4986E-7145-7163-E349-A45A2CAC19FA}"/>
              </a:ext>
            </a:extLst>
          </p:cNvPr>
          <p:cNvSpPr/>
          <p:nvPr/>
        </p:nvSpPr>
        <p:spPr>
          <a:xfrm>
            <a:off x="176308" y="4342655"/>
            <a:ext cx="2001057" cy="524733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Dax Margen %</a:t>
            </a:r>
            <a:endParaRPr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915F29FC-4736-FB42-7454-4AD727EC48D5}"/>
              </a:ext>
            </a:extLst>
          </p:cNvPr>
          <p:cNvSpPr txBox="1"/>
          <p:nvPr/>
        </p:nvSpPr>
        <p:spPr>
          <a:xfrm>
            <a:off x="176308" y="2730387"/>
            <a:ext cx="2062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Nombre Producto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7C05BB88-B8A9-9E58-A5E9-8ED6B9AF51D2}"/>
              </a:ext>
            </a:extLst>
          </p:cNvPr>
          <p:cNvSpPr txBox="1"/>
          <p:nvPr/>
        </p:nvSpPr>
        <p:spPr>
          <a:xfrm>
            <a:off x="176308" y="4460194"/>
            <a:ext cx="2181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Total Unidades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F62C6EDC-1D09-B4E1-553E-39DC7489873C}"/>
              </a:ext>
            </a:extLst>
          </p:cNvPr>
          <p:cNvSpPr txBox="1"/>
          <p:nvPr/>
        </p:nvSpPr>
        <p:spPr>
          <a:xfrm>
            <a:off x="218071" y="6107886"/>
            <a:ext cx="1840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Dax total ventas</a:t>
            </a:r>
            <a:endParaRPr lang="es-CO" dirty="0"/>
          </a:p>
        </p:txBody>
      </p:sp>
      <p:pic>
        <p:nvPicPr>
          <p:cNvPr id="61" name="Imagen 60">
            <a:extLst>
              <a:ext uri="{FF2B5EF4-FFF2-40B4-BE49-F238E27FC236}">
                <a16:creationId xmlns:a16="http://schemas.microsoft.com/office/drawing/2014/main" id="{B1DA1B1C-D8E8-EB78-262D-F76549CC2E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5" t="17329" r="10560" b="52868"/>
          <a:stretch>
            <a:fillRect/>
          </a:stretch>
        </p:blipFill>
        <p:spPr>
          <a:xfrm>
            <a:off x="2593701" y="1561756"/>
            <a:ext cx="7112274" cy="1733894"/>
          </a:xfrm>
          <a:prstGeom prst="rect">
            <a:avLst/>
          </a:prstGeom>
        </p:spPr>
      </p:pic>
      <p:pic>
        <p:nvPicPr>
          <p:cNvPr id="63" name="Imagen 6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9B505D84-370E-BEAA-BE72-11FA9DBB68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84" t="48940" r="50496" b="692"/>
          <a:stretch>
            <a:fillRect/>
          </a:stretch>
        </p:blipFill>
        <p:spPr>
          <a:xfrm>
            <a:off x="2549773" y="3695489"/>
            <a:ext cx="3245224" cy="3166344"/>
          </a:xfrm>
          <a:prstGeom prst="rect">
            <a:avLst/>
          </a:prstGeom>
        </p:spPr>
      </p:pic>
      <p:pic>
        <p:nvPicPr>
          <p:cNvPr id="65" name="Imagen 64">
            <a:extLst>
              <a:ext uri="{FF2B5EF4-FFF2-40B4-BE49-F238E27FC236}">
                <a16:creationId xmlns:a16="http://schemas.microsoft.com/office/drawing/2014/main" id="{DB4C8739-BB0A-72DB-2163-0C83FB9DD1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388" t="17444" r="674" b="64913"/>
          <a:stretch>
            <a:fillRect/>
          </a:stretch>
        </p:blipFill>
        <p:spPr>
          <a:xfrm>
            <a:off x="10770061" y="139074"/>
            <a:ext cx="1107509" cy="1109138"/>
          </a:xfrm>
          <a:prstGeom prst="rect">
            <a:avLst/>
          </a:prstGeom>
        </p:spPr>
      </p:pic>
      <p:pic>
        <p:nvPicPr>
          <p:cNvPr id="67" name="Imagen 6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98ABA2B2-A4CF-C13D-560F-ED8CEEABF5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963" t="34647" r="496" b="42692"/>
          <a:stretch>
            <a:fillRect/>
          </a:stretch>
        </p:blipFill>
        <p:spPr>
          <a:xfrm>
            <a:off x="10770061" y="1701335"/>
            <a:ext cx="1063261" cy="1424593"/>
          </a:xfrm>
          <a:prstGeom prst="rect">
            <a:avLst/>
          </a:prstGeom>
        </p:spPr>
      </p:pic>
      <p:pic>
        <p:nvPicPr>
          <p:cNvPr id="69" name="Imagen 68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9837AA9-7B02-2571-0371-B28305EEEF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641" t="56465" r="495"/>
          <a:stretch>
            <a:fillRect/>
          </a:stretch>
        </p:blipFill>
        <p:spPr>
          <a:xfrm>
            <a:off x="10711624" y="3603521"/>
            <a:ext cx="1099214" cy="2736811"/>
          </a:xfrm>
          <a:prstGeom prst="rect">
            <a:avLst/>
          </a:prstGeom>
        </p:spPr>
      </p:pic>
      <p:sp>
        <p:nvSpPr>
          <p:cNvPr id="71" name="Rounded Rectangle 5">
            <a:extLst>
              <a:ext uri="{FF2B5EF4-FFF2-40B4-BE49-F238E27FC236}">
                <a16:creationId xmlns:a16="http://schemas.microsoft.com/office/drawing/2014/main" id="{F0723C5C-768E-8D6E-1304-3DD923F58C0C}"/>
              </a:ext>
            </a:extLst>
          </p:cNvPr>
          <p:cNvSpPr/>
          <p:nvPr/>
        </p:nvSpPr>
        <p:spPr>
          <a:xfrm>
            <a:off x="3016771" y="3736545"/>
            <a:ext cx="2674083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2" name="Rounded Rectangle 5">
            <a:extLst>
              <a:ext uri="{FF2B5EF4-FFF2-40B4-BE49-F238E27FC236}">
                <a16:creationId xmlns:a16="http://schemas.microsoft.com/office/drawing/2014/main" id="{A6210BD5-3F46-F141-FE58-7FE06C666813}"/>
              </a:ext>
            </a:extLst>
          </p:cNvPr>
          <p:cNvSpPr/>
          <p:nvPr/>
        </p:nvSpPr>
        <p:spPr>
          <a:xfrm>
            <a:off x="4068398" y="1537173"/>
            <a:ext cx="4339002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5BDA0261-C970-24EE-2A6A-19C2FD4A2EE7}"/>
              </a:ext>
            </a:extLst>
          </p:cNvPr>
          <p:cNvSpPr txBox="1"/>
          <p:nvPr/>
        </p:nvSpPr>
        <p:spPr>
          <a:xfrm>
            <a:off x="4089936" y="1539496"/>
            <a:ext cx="4339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Ganancia Total, Fecha y Dax total ventas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42D380B5-E86B-A997-21C4-809E5A9B8B87}"/>
              </a:ext>
            </a:extLst>
          </p:cNvPr>
          <p:cNvSpPr txBox="1"/>
          <p:nvPr/>
        </p:nvSpPr>
        <p:spPr>
          <a:xfrm>
            <a:off x="3121063" y="3716794"/>
            <a:ext cx="2533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total ventas y País</a:t>
            </a:r>
          </a:p>
        </p:txBody>
      </p:sp>
      <p:pic>
        <p:nvPicPr>
          <p:cNvPr id="77" name="Imagen 76">
            <a:extLst>
              <a:ext uri="{FF2B5EF4-FFF2-40B4-BE49-F238E27FC236}">
                <a16:creationId xmlns:a16="http://schemas.microsoft.com/office/drawing/2014/main" id="{0348F1EB-1C10-34F9-31E1-3A50B2361D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86" t="49332" r="10133"/>
          <a:stretch>
            <a:fillRect/>
          </a:stretch>
        </p:blipFill>
        <p:spPr>
          <a:xfrm>
            <a:off x="6135134" y="3703286"/>
            <a:ext cx="4232041" cy="3106045"/>
          </a:xfrm>
          <a:prstGeom prst="rect">
            <a:avLst/>
          </a:prstGeom>
        </p:spPr>
      </p:pic>
      <p:sp>
        <p:nvSpPr>
          <p:cNvPr id="79" name="Rounded Rectangle 5">
            <a:extLst>
              <a:ext uri="{FF2B5EF4-FFF2-40B4-BE49-F238E27FC236}">
                <a16:creationId xmlns:a16="http://schemas.microsoft.com/office/drawing/2014/main" id="{6884A282-9BC5-137A-1FBC-958278DB674A}"/>
              </a:ext>
            </a:extLst>
          </p:cNvPr>
          <p:cNvSpPr/>
          <p:nvPr/>
        </p:nvSpPr>
        <p:spPr>
          <a:xfrm>
            <a:off x="6191130" y="3707328"/>
            <a:ext cx="2674083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1E2A511B-5D93-6DD6-2894-DE55E562DFE5}"/>
              </a:ext>
            </a:extLst>
          </p:cNvPr>
          <p:cNvSpPr txBox="1"/>
          <p:nvPr/>
        </p:nvSpPr>
        <p:spPr>
          <a:xfrm>
            <a:off x="6376920" y="3713387"/>
            <a:ext cx="2533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total ventas y País</a:t>
            </a:r>
          </a:p>
        </p:txBody>
      </p:sp>
      <p:pic>
        <p:nvPicPr>
          <p:cNvPr id="82" name="Imagen 81">
            <a:extLst>
              <a:ext uri="{FF2B5EF4-FFF2-40B4-BE49-F238E27FC236}">
                <a16:creationId xmlns:a16="http://schemas.microsoft.com/office/drawing/2014/main" id="{E3700820-C1F9-99D8-6868-C159CDCA8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75353" y="5164345"/>
            <a:ext cx="1505160" cy="228632"/>
          </a:xfrm>
          <a:prstGeom prst="rect">
            <a:avLst/>
          </a:prstGeom>
        </p:spPr>
      </p:pic>
      <p:pic>
        <p:nvPicPr>
          <p:cNvPr id="84" name="Imagen 83">
            <a:extLst>
              <a:ext uri="{FF2B5EF4-FFF2-40B4-BE49-F238E27FC236}">
                <a16:creationId xmlns:a16="http://schemas.microsoft.com/office/drawing/2014/main" id="{9C03D9FC-3556-2795-8B46-5B3D2DBEEA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0262" y="3693136"/>
            <a:ext cx="438211" cy="295316"/>
          </a:xfrm>
          <a:prstGeom prst="rect">
            <a:avLst/>
          </a:prstGeom>
        </p:spPr>
      </p:pic>
      <p:pic>
        <p:nvPicPr>
          <p:cNvPr id="86" name="Imagen 85">
            <a:extLst>
              <a:ext uri="{FF2B5EF4-FFF2-40B4-BE49-F238E27FC236}">
                <a16:creationId xmlns:a16="http://schemas.microsoft.com/office/drawing/2014/main" id="{90624144-D310-3020-9C7A-8B4973284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891" y="1640953"/>
            <a:ext cx="924054" cy="238158"/>
          </a:xfrm>
          <a:prstGeom prst="rect">
            <a:avLst/>
          </a:prstGeom>
        </p:spPr>
      </p:pic>
      <p:pic>
        <p:nvPicPr>
          <p:cNvPr id="88" name="Imagen 87">
            <a:extLst>
              <a:ext uri="{FF2B5EF4-FFF2-40B4-BE49-F238E27FC236}">
                <a16:creationId xmlns:a16="http://schemas.microsoft.com/office/drawing/2014/main" id="{C19AB92F-ECEF-3F94-E40E-B1B5C396B9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2141" y="69242"/>
            <a:ext cx="409632" cy="238158"/>
          </a:xfrm>
          <a:prstGeom prst="rect">
            <a:avLst/>
          </a:prstGeom>
        </p:spPr>
      </p:pic>
      <p:pic>
        <p:nvPicPr>
          <p:cNvPr id="90" name="Imagen 89">
            <a:extLst>
              <a:ext uri="{FF2B5EF4-FFF2-40B4-BE49-F238E27FC236}">
                <a16:creationId xmlns:a16="http://schemas.microsoft.com/office/drawing/2014/main" id="{50B313EB-7585-9C2E-210A-3C2CCAEEA7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2996" y="54600"/>
            <a:ext cx="409632" cy="238158"/>
          </a:xfrm>
          <a:prstGeom prst="rect">
            <a:avLst/>
          </a:prstGeom>
        </p:spPr>
      </p:pic>
      <p:pic>
        <p:nvPicPr>
          <p:cNvPr id="92" name="Imagen 91">
            <a:extLst>
              <a:ext uri="{FF2B5EF4-FFF2-40B4-BE49-F238E27FC236}">
                <a16:creationId xmlns:a16="http://schemas.microsoft.com/office/drawing/2014/main" id="{DE1D7A8A-F20A-6DC6-D48A-FD73D4C352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4006" y="41023"/>
            <a:ext cx="409632" cy="238158"/>
          </a:xfrm>
          <a:prstGeom prst="rect">
            <a:avLst/>
          </a:prstGeom>
        </p:spPr>
      </p:pic>
      <p:pic>
        <p:nvPicPr>
          <p:cNvPr id="94" name="Imagen 93">
            <a:extLst>
              <a:ext uri="{FF2B5EF4-FFF2-40B4-BE49-F238E27FC236}">
                <a16:creationId xmlns:a16="http://schemas.microsoft.com/office/drawing/2014/main" id="{FD020B01-FEAB-B913-104B-AF133CE353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020" y="5124548"/>
            <a:ext cx="409632" cy="238158"/>
          </a:xfrm>
          <a:prstGeom prst="rect">
            <a:avLst/>
          </a:prstGeom>
        </p:spPr>
      </p:pic>
      <p:pic>
        <p:nvPicPr>
          <p:cNvPr id="96" name="Imagen 95">
            <a:extLst>
              <a:ext uri="{FF2B5EF4-FFF2-40B4-BE49-F238E27FC236}">
                <a16:creationId xmlns:a16="http://schemas.microsoft.com/office/drawing/2014/main" id="{FF0C8B2D-FB3E-EC8A-F5AE-9E58B113FE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82" y="3469170"/>
            <a:ext cx="409632" cy="238158"/>
          </a:xfrm>
          <a:prstGeom prst="rect">
            <a:avLst/>
          </a:prstGeom>
        </p:spPr>
      </p:pic>
      <p:pic>
        <p:nvPicPr>
          <p:cNvPr id="98" name="Imagen 97">
            <a:extLst>
              <a:ext uri="{FF2B5EF4-FFF2-40B4-BE49-F238E27FC236}">
                <a16:creationId xmlns:a16="http://schemas.microsoft.com/office/drawing/2014/main" id="{32BEFF69-D049-F160-0846-A80B73619E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020" y="1832128"/>
            <a:ext cx="409632" cy="238158"/>
          </a:xfrm>
          <a:prstGeom prst="rect">
            <a:avLst/>
          </a:prstGeom>
        </p:spPr>
      </p:pic>
      <p:pic>
        <p:nvPicPr>
          <p:cNvPr id="100" name="Imagen 99">
            <a:extLst>
              <a:ext uri="{FF2B5EF4-FFF2-40B4-BE49-F238E27FC236}">
                <a16:creationId xmlns:a16="http://schemas.microsoft.com/office/drawing/2014/main" id="{0635C209-CD41-5D05-538E-214ACAABA7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102" y="56428"/>
            <a:ext cx="409632" cy="238158"/>
          </a:xfrm>
          <a:prstGeom prst="rect">
            <a:avLst/>
          </a:prstGeom>
        </p:spPr>
      </p:pic>
      <p:pic>
        <p:nvPicPr>
          <p:cNvPr id="102" name="Imagen 101">
            <a:extLst>
              <a:ext uri="{FF2B5EF4-FFF2-40B4-BE49-F238E27FC236}">
                <a16:creationId xmlns:a16="http://schemas.microsoft.com/office/drawing/2014/main" id="{50F02AF1-B835-4036-D9BD-11677F41A6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6613" y="82164"/>
            <a:ext cx="1286054" cy="238158"/>
          </a:xfrm>
          <a:prstGeom prst="rect">
            <a:avLst/>
          </a:prstGeom>
        </p:spPr>
      </p:pic>
      <p:pic>
        <p:nvPicPr>
          <p:cNvPr id="104" name="Imagen 103">
            <a:extLst>
              <a:ext uri="{FF2B5EF4-FFF2-40B4-BE49-F238E27FC236}">
                <a16:creationId xmlns:a16="http://schemas.microsoft.com/office/drawing/2014/main" id="{45CD71CA-E0B1-9C77-F0AA-CEAD7CFE3A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1231" y="1722007"/>
            <a:ext cx="1286054" cy="184986"/>
          </a:xfrm>
          <a:prstGeom prst="rect">
            <a:avLst/>
          </a:prstGeom>
        </p:spPr>
      </p:pic>
      <p:pic>
        <p:nvPicPr>
          <p:cNvPr id="106" name="Imagen 105">
            <a:extLst>
              <a:ext uri="{FF2B5EF4-FFF2-40B4-BE49-F238E27FC236}">
                <a16:creationId xmlns:a16="http://schemas.microsoft.com/office/drawing/2014/main" id="{6F1DB655-04ED-3A9B-DA59-F4A4AB1462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5940" y="3564665"/>
            <a:ext cx="1286054" cy="238158"/>
          </a:xfrm>
          <a:prstGeom prst="rect">
            <a:avLst/>
          </a:prstGeom>
        </p:spPr>
      </p:pic>
      <p:sp>
        <p:nvSpPr>
          <p:cNvPr id="107" name="TextBox 3">
            <a:extLst>
              <a:ext uri="{FF2B5EF4-FFF2-40B4-BE49-F238E27FC236}">
                <a16:creationId xmlns:a16="http://schemas.microsoft.com/office/drawing/2014/main" id="{4CFE4FD1-6301-8FE7-A46F-25952BF887AB}"/>
              </a:ext>
            </a:extLst>
          </p:cNvPr>
          <p:cNvSpPr txBox="1"/>
          <p:nvPr/>
        </p:nvSpPr>
        <p:spPr>
          <a:xfrm>
            <a:off x="3808302" y="3177517"/>
            <a:ext cx="4958707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dirty="0" err="1"/>
              <a:t>Construcc</a:t>
            </a:r>
            <a:r>
              <a:rPr lang="es-CO" dirty="0" err="1"/>
              <a:t>ión</a:t>
            </a:r>
            <a:r>
              <a:rPr dirty="0"/>
              <a:t> del dashboard</a:t>
            </a: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72184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877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F6C7F71B-F80A-C2EA-7D40-01C928EAB7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" t="18635" r="81508" b="67062"/>
          <a:stretch>
            <a:fillRect/>
          </a:stretch>
        </p:blipFill>
        <p:spPr>
          <a:xfrm>
            <a:off x="264908" y="254418"/>
            <a:ext cx="2030504" cy="892347"/>
          </a:xfrm>
          <a:prstGeom prst="rect">
            <a:avLst/>
          </a:prstGeom>
        </p:spPr>
      </p:pic>
      <p:pic>
        <p:nvPicPr>
          <p:cNvPr id="25" name="Imagen 24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2042162A-E119-0B8F-9A07-74ECEDC613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938" r="81654" b="51759"/>
          <a:stretch>
            <a:fillRect/>
          </a:stretch>
        </p:blipFill>
        <p:spPr>
          <a:xfrm>
            <a:off x="264908" y="1654795"/>
            <a:ext cx="2030504" cy="954741"/>
          </a:xfrm>
          <a:prstGeom prst="rect">
            <a:avLst/>
          </a:prstGeom>
        </p:spPr>
      </p:pic>
      <p:pic>
        <p:nvPicPr>
          <p:cNvPr id="27" name="Imagen 26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84E0C203-E977-BD61-7FE1-4A05CF5BA1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28" t="1935" r="3022" b="50000"/>
          <a:stretch>
            <a:fillRect/>
          </a:stretch>
        </p:blipFill>
        <p:spPr>
          <a:xfrm>
            <a:off x="2716304" y="228600"/>
            <a:ext cx="9313435" cy="2880089"/>
          </a:xfrm>
          <a:prstGeom prst="rect">
            <a:avLst/>
          </a:prstGeom>
        </p:spPr>
      </p:pic>
      <p:pic>
        <p:nvPicPr>
          <p:cNvPr id="29" name="Imagen 28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3951E027-A0FC-86B1-669F-C6CB698E11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30" t="50000" r="83493" b="24713"/>
          <a:stretch>
            <a:fillRect/>
          </a:stretch>
        </p:blipFill>
        <p:spPr>
          <a:xfrm>
            <a:off x="284181" y="3178076"/>
            <a:ext cx="1841351" cy="1577610"/>
          </a:xfrm>
          <a:prstGeom prst="rect">
            <a:avLst/>
          </a:prstGeom>
        </p:spPr>
      </p:pic>
      <p:pic>
        <p:nvPicPr>
          <p:cNvPr id="31" name="Imagen 30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16509AF5-8BA7-8043-6667-2C7404446E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07" t="49780" r="68419" b="27158"/>
          <a:stretch>
            <a:fillRect/>
          </a:stretch>
        </p:blipFill>
        <p:spPr>
          <a:xfrm>
            <a:off x="2454759" y="3247463"/>
            <a:ext cx="1779047" cy="1438836"/>
          </a:xfrm>
          <a:prstGeom prst="rect">
            <a:avLst/>
          </a:prstGeom>
        </p:spPr>
      </p:pic>
      <p:pic>
        <p:nvPicPr>
          <p:cNvPr id="33" name="Imagen 32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FEABEB11-0D90-F116-8FDD-21B6B1D6EF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71" t="50000" r="1565" b="3013"/>
          <a:stretch>
            <a:fillRect/>
          </a:stretch>
        </p:blipFill>
        <p:spPr>
          <a:xfrm>
            <a:off x="4487730" y="3429000"/>
            <a:ext cx="7422777" cy="2931460"/>
          </a:xfrm>
          <a:prstGeom prst="rect">
            <a:avLst/>
          </a:prstGeom>
        </p:spPr>
      </p:pic>
      <p:pic>
        <p:nvPicPr>
          <p:cNvPr id="35" name="Imagen 34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8090BB8A-CBAB-98C7-7E8A-88DB7497B7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631" r="68751" b="4306"/>
          <a:stretch>
            <a:fillRect/>
          </a:stretch>
        </p:blipFill>
        <p:spPr>
          <a:xfrm>
            <a:off x="199240" y="5037486"/>
            <a:ext cx="3458696" cy="1438836"/>
          </a:xfrm>
          <a:prstGeom prst="rect">
            <a:avLst/>
          </a:prstGeom>
        </p:spPr>
      </p:pic>
      <p:sp>
        <p:nvSpPr>
          <p:cNvPr id="39" name="Rounded Rectangle 5">
            <a:extLst>
              <a:ext uri="{FF2B5EF4-FFF2-40B4-BE49-F238E27FC236}">
                <a16:creationId xmlns:a16="http://schemas.microsoft.com/office/drawing/2014/main" id="{F37EA4D6-4F90-6ED8-4600-32568DED784A}"/>
              </a:ext>
            </a:extLst>
          </p:cNvPr>
          <p:cNvSpPr/>
          <p:nvPr/>
        </p:nvSpPr>
        <p:spPr>
          <a:xfrm>
            <a:off x="5264521" y="318060"/>
            <a:ext cx="5791053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0" name="Rounded Rectangle 5">
            <a:extLst>
              <a:ext uri="{FF2B5EF4-FFF2-40B4-BE49-F238E27FC236}">
                <a16:creationId xmlns:a16="http://schemas.microsoft.com/office/drawing/2014/main" id="{9A3A2FC6-6001-1ABE-B44F-446F6740F12C}"/>
              </a:ext>
            </a:extLst>
          </p:cNvPr>
          <p:cNvSpPr/>
          <p:nvPr/>
        </p:nvSpPr>
        <p:spPr>
          <a:xfrm>
            <a:off x="220532" y="1065448"/>
            <a:ext cx="2170578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4F5EB124-58E9-1C13-8C6D-533A7EE87065}"/>
              </a:ext>
            </a:extLst>
          </p:cNvPr>
          <p:cNvSpPr txBox="1"/>
          <p:nvPr/>
        </p:nvSpPr>
        <p:spPr>
          <a:xfrm>
            <a:off x="5365375" y="335996"/>
            <a:ext cx="5589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total ventas, Marca, Nombre Producto y Subcategoría</a:t>
            </a:r>
          </a:p>
        </p:txBody>
      </p:sp>
      <p:sp>
        <p:nvSpPr>
          <p:cNvPr id="42" name="Rounded Rectangle 5">
            <a:extLst>
              <a:ext uri="{FF2B5EF4-FFF2-40B4-BE49-F238E27FC236}">
                <a16:creationId xmlns:a16="http://schemas.microsoft.com/office/drawing/2014/main" id="{BA84B67E-B025-00FE-29EB-683B4934DFDB}"/>
              </a:ext>
            </a:extLst>
          </p:cNvPr>
          <p:cNvSpPr/>
          <p:nvPr/>
        </p:nvSpPr>
        <p:spPr>
          <a:xfrm>
            <a:off x="199240" y="4555900"/>
            <a:ext cx="2011231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3" name="Rounded Rectangle 5">
            <a:extLst>
              <a:ext uri="{FF2B5EF4-FFF2-40B4-BE49-F238E27FC236}">
                <a16:creationId xmlns:a16="http://schemas.microsoft.com/office/drawing/2014/main" id="{90EF67BF-03A1-5693-5680-8628CBA8B9CE}"/>
              </a:ext>
            </a:extLst>
          </p:cNvPr>
          <p:cNvSpPr/>
          <p:nvPr/>
        </p:nvSpPr>
        <p:spPr>
          <a:xfrm>
            <a:off x="220533" y="2498952"/>
            <a:ext cx="2170578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4" name="Rounded Rectangle 5">
            <a:extLst>
              <a:ext uri="{FF2B5EF4-FFF2-40B4-BE49-F238E27FC236}">
                <a16:creationId xmlns:a16="http://schemas.microsoft.com/office/drawing/2014/main" id="{EF51B33E-0357-F2AB-5608-C36A40A46509}"/>
              </a:ext>
            </a:extLst>
          </p:cNvPr>
          <p:cNvSpPr/>
          <p:nvPr/>
        </p:nvSpPr>
        <p:spPr>
          <a:xfrm>
            <a:off x="2295412" y="4585714"/>
            <a:ext cx="2011231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5" name="Rounded Rectangle 5">
            <a:extLst>
              <a:ext uri="{FF2B5EF4-FFF2-40B4-BE49-F238E27FC236}">
                <a16:creationId xmlns:a16="http://schemas.microsoft.com/office/drawing/2014/main" id="{AE78C121-CA45-7B92-8C29-7FD2AB0771A8}"/>
              </a:ext>
            </a:extLst>
          </p:cNvPr>
          <p:cNvSpPr/>
          <p:nvPr/>
        </p:nvSpPr>
        <p:spPr>
          <a:xfrm>
            <a:off x="443528" y="6448576"/>
            <a:ext cx="2783766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F0931442-F8AD-D703-BD52-0DF771473A4A}"/>
              </a:ext>
            </a:extLst>
          </p:cNvPr>
          <p:cNvSpPr txBox="1"/>
          <p:nvPr/>
        </p:nvSpPr>
        <p:spPr>
          <a:xfrm>
            <a:off x="243167" y="1065448"/>
            <a:ext cx="227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Ticket Promedio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99B11ECF-427E-1133-F8ED-29B8EE4B5F4B}"/>
              </a:ext>
            </a:extLst>
          </p:cNvPr>
          <p:cNvSpPr txBox="1"/>
          <p:nvPr/>
        </p:nvSpPr>
        <p:spPr>
          <a:xfrm>
            <a:off x="270958" y="2528576"/>
            <a:ext cx="201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Clientes Únicos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5AEA438-5F85-680A-8232-F7E1986AFB5B}"/>
              </a:ext>
            </a:extLst>
          </p:cNvPr>
          <p:cNvSpPr txBox="1"/>
          <p:nvPr/>
        </p:nvSpPr>
        <p:spPr>
          <a:xfrm>
            <a:off x="443528" y="4562499"/>
            <a:ext cx="1597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Subcategoría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8A389B63-0C7E-711F-B9BA-CBA8DC673189}"/>
              </a:ext>
            </a:extLst>
          </p:cNvPr>
          <p:cNvSpPr txBox="1"/>
          <p:nvPr/>
        </p:nvSpPr>
        <p:spPr>
          <a:xfrm>
            <a:off x="2871619" y="4578741"/>
            <a:ext cx="1041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Marca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AC503FC-8017-86EC-BB10-7CFE30F74DB0}"/>
              </a:ext>
            </a:extLst>
          </p:cNvPr>
          <p:cNvSpPr txBox="1"/>
          <p:nvPr/>
        </p:nvSpPr>
        <p:spPr>
          <a:xfrm>
            <a:off x="685800" y="6476322"/>
            <a:ext cx="2185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Nombre Producto</a:t>
            </a:r>
          </a:p>
        </p:txBody>
      </p:sp>
      <p:sp>
        <p:nvSpPr>
          <p:cNvPr id="51" name="Rounded Rectangle 5">
            <a:extLst>
              <a:ext uri="{FF2B5EF4-FFF2-40B4-BE49-F238E27FC236}">
                <a16:creationId xmlns:a16="http://schemas.microsoft.com/office/drawing/2014/main" id="{1712255E-DCF2-479F-B6EB-DFAD2A693A85}"/>
              </a:ext>
            </a:extLst>
          </p:cNvPr>
          <p:cNvSpPr/>
          <p:nvPr/>
        </p:nvSpPr>
        <p:spPr>
          <a:xfrm>
            <a:off x="5791345" y="3366781"/>
            <a:ext cx="4171805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39B5C70D-95CA-EFAC-B14D-F58D3F3D2DE3}"/>
              </a:ext>
            </a:extLst>
          </p:cNvPr>
          <p:cNvSpPr txBox="1"/>
          <p:nvPr/>
        </p:nvSpPr>
        <p:spPr>
          <a:xfrm>
            <a:off x="6226395" y="3361228"/>
            <a:ext cx="3867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Total Ventas y Nombre cliente</a:t>
            </a:r>
          </a:p>
        </p:txBody>
      </p:sp>
      <p:pic>
        <p:nvPicPr>
          <p:cNvPr id="56" name="Imagen 55">
            <a:extLst>
              <a:ext uri="{FF2B5EF4-FFF2-40B4-BE49-F238E27FC236}">
                <a16:creationId xmlns:a16="http://schemas.microsoft.com/office/drawing/2014/main" id="{E1DCA595-909D-C0E2-F009-8F861D8BA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86" y="1542628"/>
            <a:ext cx="523948" cy="257211"/>
          </a:xfrm>
          <a:prstGeom prst="rect">
            <a:avLst/>
          </a:prstGeom>
        </p:spPr>
      </p:pic>
      <p:pic>
        <p:nvPicPr>
          <p:cNvPr id="58" name="Imagen 57">
            <a:extLst>
              <a:ext uri="{FF2B5EF4-FFF2-40B4-BE49-F238E27FC236}">
                <a16:creationId xmlns:a16="http://schemas.microsoft.com/office/drawing/2014/main" id="{DBBFC77C-B7E7-C2E3-921A-453C4FEF5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599" y="136971"/>
            <a:ext cx="523948" cy="257211"/>
          </a:xfrm>
          <a:prstGeom prst="rect">
            <a:avLst/>
          </a:prstGeom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2D161A60-2047-E251-B439-D774E7C82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921" y="3207744"/>
            <a:ext cx="1286054" cy="238158"/>
          </a:xfrm>
          <a:prstGeom prst="rect">
            <a:avLst/>
          </a:prstGeom>
        </p:spPr>
      </p:pic>
      <p:pic>
        <p:nvPicPr>
          <p:cNvPr id="60" name="Imagen 59">
            <a:extLst>
              <a:ext uri="{FF2B5EF4-FFF2-40B4-BE49-F238E27FC236}">
                <a16:creationId xmlns:a16="http://schemas.microsoft.com/office/drawing/2014/main" id="{D7AD2498-6942-A838-27AD-6C0A4E374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9" y="3161651"/>
            <a:ext cx="1286054" cy="238158"/>
          </a:xfrm>
          <a:prstGeom prst="rect">
            <a:avLst/>
          </a:prstGeom>
        </p:spPr>
      </p:pic>
      <p:pic>
        <p:nvPicPr>
          <p:cNvPr id="61" name="Imagen 60">
            <a:extLst>
              <a:ext uri="{FF2B5EF4-FFF2-40B4-BE49-F238E27FC236}">
                <a16:creationId xmlns:a16="http://schemas.microsoft.com/office/drawing/2014/main" id="{FC53A5F8-2F6E-68E7-7A33-2CC223F99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056" y="5104040"/>
            <a:ext cx="1286054" cy="238158"/>
          </a:xfrm>
          <a:prstGeom prst="rect">
            <a:avLst/>
          </a:prstGeom>
        </p:spPr>
      </p:pic>
      <p:pic>
        <p:nvPicPr>
          <p:cNvPr id="63" name="Imagen 62">
            <a:extLst>
              <a:ext uri="{FF2B5EF4-FFF2-40B4-BE49-F238E27FC236}">
                <a16:creationId xmlns:a16="http://schemas.microsoft.com/office/drawing/2014/main" id="{1FF2102B-E9C8-CDCA-A69D-B580E262F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303" y="2726337"/>
            <a:ext cx="1714739" cy="285790"/>
          </a:xfrm>
          <a:prstGeom prst="rect">
            <a:avLst/>
          </a:prstGeom>
        </p:spPr>
      </p:pic>
      <p:pic>
        <p:nvPicPr>
          <p:cNvPr id="65" name="Imagen 64">
            <a:extLst>
              <a:ext uri="{FF2B5EF4-FFF2-40B4-BE49-F238E27FC236}">
                <a16:creationId xmlns:a16="http://schemas.microsoft.com/office/drawing/2014/main" id="{149A78E7-82E1-B633-3D67-36037A7EDE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8801" y="6146661"/>
            <a:ext cx="1562318" cy="247685"/>
          </a:xfrm>
          <a:prstGeom prst="rect">
            <a:avLst/>
          </a:prstGeom>
        </p:spPr>
      </p:pic>
      <p:sp>
        <p:nvSpPr>
          <p:cNvPr id="66" name="TextBox 3">
            <a:extLst>
              <a:ext uri="{FF2B5EF4-FFF2-40B4-BE49-F238E27FC236}">
                <a16:creationId xmlns:a16="http://schemas.microsoft.com/office/drawing/2014/main" id="{8130C503-1365-4412-0D19-D5B2887558C5}"/>
              </a:ext>
            </a:extLst>
          </p:cNvPr>
          <p:cNvSpPr txBox="1"/>
          <p:nvPr/>
        </p:nvSpPr>
        <p:spPr>
          <a:xfrm>
            <a:off x="4583777" y="6288480"/>
            <a:ext cx="4958707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dirty="0" err="1"/>
              <a:t>Construcc</a:t>
            </a:r>
            <a:r>
              <a:rPr lang="es-CO" dirty="0" err="1"/>
              <a:t>ión</a:t>
            </a:r>
            <a:r>
              <a:rPr dirty="0"/>
              <a:t> del dashboard</a:t>
            </a: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72184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877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1888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23" name="Imagen 2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6C4E5BD-E7D8-7693-0BAB-11D33BDA7C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7" t="8504" r="43454" b="42993"/>
          <a:stretch>
            <a:fillRect/>
          </a:stretch>
        </p:blipFill>
        <p:spPr>
          <a:xfrm>
            <a:off x="393699" y="279908"/>
            <a:ext cx="6134100" cy="2989072"/>
          </a:xfrm>
          <a:prstGeom prst="rect">
            <a:avLst/>
          </a:prstGeom>
        </p:spPr>
      </p:pic>
      <p:pic>
        <p:nvPicPr>
          <p:cNvPr id="25" name="Imagen 2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B00F2A93-CC48-503B-B4EF-50680B75D6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6" t="57643" r="43325" b="1635"/>
          <a:stretch>
            <a:fillRect/>
          </a:stretch>
        </p:blipFill>
        <p:spPr>
          <a:xfrm>
            <a:off x="393699" y="3795522"/>
            <a:ext cx="6146801" cy="2503932"/>
          </a:xfrm>
          <a:prstGeom prst="rect">
            <a:avLst/>
          </a:prstGeom>
        </p:spPr>
      </p:pic>
      <p:pic>
        <p:nvPicPr>
          <p:cNvPr id="27" name="Imagen 2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545CC002-D2B0-6FC6-B842-D915ED8F5A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661" t="1571" b="1332"/>
          <a:stretch>
            <a:fillRect/>
          </a:stretch>
        </p:blipFill>
        <p:spPr>
          <a:xfrm>
            <a:off x="7005640" y="228600"/>
            <a:ext cx="4792661" cy="5983732"/>
          </a:xfrm>
          <a:prstGeom prst="rect">
            <a:avLst/>
          </a:prstGeom>
        </p:spPr>
      </p:pic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689BC940-0FF1-3573-C302-D243B3DF4B5E}"/>
              </a:ext>
            </a:extLst>
          </p:cNvPr>
          <p:cNvSpPr/>
          <p:nvPr/>
        </p:nvSpPr>
        <p:spPr>
          <a:xfrm>
            <a:off x="2067719" y="109728"/>
            <a:ext cx="2603502" cy="5156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6948A4E-5D9A-28A7-99C6-3B9758CB8F4E}"/>
              </a:ext>
            </a:extLst>
          </p:cNvPr>
          <p:cNvSpPr txBox="1"/>
          <p:nvPr/>
        </p:nvSpPr>
        <p:spPr>
          <a:xfrm>
            <a:off x="2143920" y="204232"/>
            <a:ext cx="2451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Total Ventas y País</a:t>
            </a:r>
          </a:p>
        </p:txBody>
      </p:sp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509BD310-0EB6-0B97-9733-0B858641BDF0}"/>
              </a:ext>
            </a:extLst>
          </p:cNvPr>
          <p:cNvSpPr/>
          <p:nvPr/>
        </p:nvSpPr>
        <p:spPr>
          <a:xfrm>
            <a:off x="2628900" y="3743738"/>
            <a:ext cx="3314700" cy="5156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8118675-795E-5C8B-2C42-78EB4AEBD503}"/>
              </a:ext>
            </a:extLst>
          </p:cNvPr>
          <p:cNvSpPr txBox="1"/>
          <p:nvPr/>
        </p:nvSpPr>
        <p:spPr>
          <a:xfrm>
            <a:off x="2771381" y="3819144"/>
            <a:ext cx="3067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Continente y Dax Total Ventas</a:t>
            </a:r>
          </a:p>
        </p:txBody>
      </p:sp>
      <p:sp>
        <p:nvSpPr>
          <p:cNvPr id="32" name="Rounded Rectangle 5">
            <a:extLst>
              <a:ext uri="{FF2B5EF4-FFF2-40B4-BE49-F238E27FC236}">
                <a16:creationId xmlns:a16="http://schemas.microsoft.com/office/drawing/2014/main" id="{85CE1099-BA12-0AF7-6C7C-1F3C7D612E40}"/>
              </a:ext>
            </a:extLst>
          </p:cNvPr>
          <p:cNvSpPr/>
          <p:nvPr/>
        </p:nvSpPr>
        <p:spPr>
          <a:xfrm>
            <a:off x="7018341" y="5942870"/>
            <a:ext cx="4779960" cy="68653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3D8B559-40CB-C08F-306B-ABE2AEED34B9}"/>
              </a:ext>
            </a:extLst>
          </p:cNvPr>
          <p:cNvSpPr txBox="1"/>
          <p:nvPr/>
        </p:nvSpPr>
        <p:spPr>
          <a:xfrm>
            <a:off x="6862131" y="5997117"/>
            <a:ext cx="4936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Dax Total Ventas, Marca, Nombre Producto y Subcategoría</a:t>
            </a:r>
          </a:p>
        </p:txBody>
      </p:sp>
      <p:sp>
        <p:nvSpPr>
          <p:cNvPr id="34" name="TextBox 3">
            <a:extLst>
              <a:ext uri="{FF2B5EF4-FFF2-40B4-BE49-F238E27FC236}">
                <a16:creationId xmlns:a16="http://schemas.microsoft.com/office/drawing/2014/main" id="{B7AE3F11-B72A-3C20-7BC7-25930EA861C0}"/>
              </a:ext>
            </a:extLst>
          </p:cNvPr>
          <p:cNvSpPr txBox="1"/>
          <p:nvPr/>
        </p:nvSpPr>
        <p:spPr>
          <a:xfrm>
            <a:off x="393699" y="3227780"/>
            <a:ext cx="4958707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dirty="0" err="1"/>
              <a:t>Construcc</a:t>
            </a:r>
            <a:r>
              <a:rPr lang="es-CO" dirty="0" err="1"/>
              <a:t>ión</a:t>
            </a:r>
            <a:r>
              <a:rPr dirty="0"/>
              <a:t> del dashboard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B64C5BD7-BC13-642A-AE72-B33BB6422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770" y="388898"/>
            <a:ext cx="609685" cy="257211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65D0A945-F2E1-0EB8-66FB-AD4EEA942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11" y="5938993"/>
            <a:ext cx="990738" cy="200053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A4B00B26-3C82-C5ED-A748-A2D406E48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8854" y="5659139"/>
            <a:ext cx="1162212" cy="219106"/>
          </a:xfrm>
          <a:prstGeom prst="rect">
            <a:avLst/>
          </a:prstGeom>
        </p:spPr>
      </p:pic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dirty="0" err="1"/>
              <a:t>Análisis</a:t>
            </a:r>
            <a:r>
              <a:rPr dirty="0"/>
              <a:t> de</a:t>
            </a:r>
            <a:r>
              <a:rPr lang="es-CO" dirty="0"/>
              <a:t>l</a:t>
            </a:r>
            <a:r>
              <a:rPr dirty="0"/>
              <a:t> </a:t>
            </a:r>
            <a:r>
              <a:rPr dirty="0" err="1"/>
              <a:t>resultado</a:t>
            </a:r>
            <a:r>
              <a:rPr lang="es-CO" dirty="0"/>
              <a:t> #1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01876" y="1600837"/>
            <a:ext cx="7141972" cy="3402963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1766192" y="2082800"/>
            <a:ext cx="45719" cy="2171700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01342" y="1683487"/>
            <a:ext cx="6543040" cy="31239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lang="es-ES" dirty="0"/>
          </a:p>
          <a:p>
            <a:r>
              <a:rPr lang="es-ES" b="1" dirty="0">
                <a:latin typeface="Arial Black" panose="020B0A04020102020204" pitchFamily="34" charset="0"/>
              </a:rPr>
              <a:t>Estabilidad Temporal y Rentabilidad</a:t>
            </a:r>
            <a:r>
              <a:rPr lang="es-ES" b="1" dirty="0"/>
              <a:t>:</a:t>
            </a:r>
            <a:r>
              <a:rPr lang="es-ES" dirty="0">
                <a:latin typeface="Aptos" panose="020B0004020202020204" pitchFamily="34" charset="0"/>
              </a:rPr>
              <a:t> Las ventas y la ganancia total muestran un comportamiento estable entre 2020 y 2023, con un margen constante del 46% y una ganancia acumulada de $1,73 millones sobre $3,80 millones en ventas registradas.</a:t>
            </a:r>
          </a:p>
          <a:p>
            <a:endParaRPr lang="es-ES" dirty="0"/>
          </a:p>
          <a:p>
            <a:r>
              <a:rPr lang="es-ES" b="1" dirty="0">
                <a:latin typeface="Arial Black" panose="020B0A04020102020204" pitchFamily="34" charset="0"/>
              </a:rPr>
              <a:t>Diversificación Global:</a:t>
            </a:r>
            <a:r>
              <a:rPr lang="es-ES" dirty="0"/>
              <a:t> </a:t>
            </a:r>
            <a:r>
              <a:rPr lang="es-ES" dirty="0">
                <a:latin typeface="Aptos" panose="020B0004020202020204" pitchFamily="34" charset="0"/>
              </a:rPr>
              <a:t>La distribución geográfica de ingresos es homogénea entre los principales mercados (liderados por Malasia, Japón y España con ~$12,5 millones cada uno), lo que indica una baja dependencia de un único país.</a:t>
            </a:r>
          </a:p>
          <a:p>
            <a:pPr algn="l">
              <a:defRPr sz="1700" b="0">
                <a:solidFill>
                  <a:srgbClr val="2B353F"/>
                </a:solidFill>
                <a:latin typeface="Aptos"/>
              </a:defRPr>
            </a:pPr>
            <a:endParaRPr dirty="0"/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A7F4BEE0-26DA-C921-572E-06AE56C0EFDF}"/>
              </a:ext>
            </a:extLst>
          </p:cNvPr>
          <p:cNvSpPr txBox="1"/>
          <p:nvPr/>
        </p:nvSpPr>
        <p:spPr>
          <a:xfrm>
            <a:off x="594360" y="320040"/>
            <a:ext cx="36576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1891C8"/>
                </a:solidFill>
                <a:latin typeface="Aptos"/>
              </a:defRPr>
            </a:pPr>
            <a:r>
              <a:rPr lang="es-ES" sz="1000" b="1" dirty="0"/>
              <a:t>Ventas y Distribución Geográfica</a:t>
            </a:r>
            <a:endParaRPr sz="1000" dirty="0"/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E7FA43C7-84D9-D4FC-863F-186C54615623}"/>
              </a:ext>
            </a:extLst>
          </p:cNvPr>
          <p:cNvSpPr/>
          <p:nvPr/>
        </p:nvSpPr>
        <p:spPr>
          <a:xfrm>
            <a:off x="8924038" y="2082800"/>
            <a:ext cx="45719" cy="2171700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1891C8"/>
                </a:solidFill>
                <a:latin typeface="Aptos"/>
              </a:defRPr>
            </a:pPr>
            <a:r>
              <a:rPr lang="es-CO" sz="1000" b="1" dirty="0"/>
              <a:t> Productos y Clientes</a:t>
            </a:r>
          </a:p>
          <a:p>
            <a:pPr algn="l">
              <a:defRPr sz="900" b="1">
                <a:solidFill>
                  <a:srgbClr val="1891C8"/>
                </a:solidFill>
                <a:latin typeface="Aptos"/>
              </a:defRPr>
            </a:pPr>
            <a:endParaRPr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FA73F1BC-020E-1F68-23D9-AF856587CAD4}"/>
              </a:ext>
            </a:extLst>
          </p:cNvPr>
          <p:cNvSpPr txBox="1"/>
          <p:nvPr/>
        </p:nvSpPr>
        <p:spPr>
          <a:xfrm>
            <a:off x="746760" y="6172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dirty="0" err="1"/>
              <a:t>Análisis</a:t>
            </a:r>
            <a:r>
              <a:rPr dirty="0"/>
              <a:t> de</a:t>
            </a:r>
            <a:r>
              <a:rPr lang="es-CO" dirty="0"/>
              <a:t>l</a:t>
            </a:r>
            <a:r>
              <a:rPr dirty="0"/>
              <a:t> </a:t>
            </a:r>
            <a:r>
              <a:rPr dirty="0" err="1"/>
              <a:t>resultado</a:t>
            </a:r>
            <a:r>
              <a:rPr lang="es-CO" dirty="0"/>
              <a:t> #2</a:t>
            </a:r>
            <a:endParaRPr dirty="0"/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EFA6C3CC-9A06-A773-AC4E-8104EEB4CBB4}"/>
              </a:ext>
            </a:extLst>
          </p:cNvPr>
          <p:cNvSpPr/>
          <p:nvPr/>
        </p:nvSpPr>
        <p:spPr>
          <a:xfrm>
            <a:off x="1749476" y="2082800"/>
            <a:ext cx="45719" cy="2171700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349E1F89-2A40-328A-146F-122F9A30E7A1}"/>
              </a:ext>
            </a:extLst>
          </p:cNvPr>
          <p:cNvSpPr/>
          <p:nvPr/>
        </p:nvSpPr>
        <p:spPr>
          <a:xfrm>
            <a:off x="1801876" y="1600838"/>
            <a:ext cx="7141972" cy="308546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dirty="0"/>
              <a:t>Categorías LÍderes en Facturación:</a:t>
            </a:r>
            <a:r>
              <a:rPr lang="es-ES" dirty="0"/>
              <a:t> Las subcategorías de </a:t>
            </a:r>
            <a:r>
              <a:rPr lang="es-ES" b="1" dirty="0"/>
              <a:t>Carnes</a:t>
            </a:r>
            <a:r>
              <a:rPr lang="es-ES" dirty="0"/>
              <a:t> (encabezada por marcas como </a:t>
            </a:r>
            <a:r>
              <a:rPr lang="es-ES" i="1" dirty="0"/>
              <a:t>FlexiFusion</a:t>
            </a:r>
            <a:r>
              <a:rPr lang="es-ES" dirty="0"/>
              <a:t> y </a:t>
            </a:r>
            <a:r>
              <a:rPr lang="es-ES" i="1" dirty="0"/>
              <a:t>AquaLume</a:t>
            </a:r>
            <a:r>
              <a:rPr lang="es-ES" dirty="0"/>
              <a:t>) y </a:t>
            </a:r>
            <a:r>
              <a:rPr lang="es-ES" b="1" dirty="0"/>
              <a:t>Vegetales</a:t>
            </a:r>
            <a:r>
              <a:rPr lang="es-ES" dirty="0"/>
              <a:t> registran los picos más altos de ventas individuales (~$11,8 mill. y $11,5 mill. respectivamente), superando a categorías secundarias como </a:t>
            </a:r>
            <a:r>
              <a:rPr lang="es-ES" i="1" dirty="0"/>
              <a:t>Condimentos</a:t>
            </a:r>
            <a:r>
              <a:rPr lang="es-ES" dirty="0"/>
              <a:t> o </a:t>
            </a:r>
            <a:r>
              <a:rPr lang="es-ES" i="1" dirty="0"/>
              <a:t>Untables</a:t>
            </a:r>
            <a:r>
              <a:rPr lang="es-ES" dirty="0"/>
              <a:t>.</a:t>
            </a: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DF340DCE-9EE6-50C7-7EFF-B2F75008B40F}"/>
              </a:ext>
            </a:extLst>
          </p:cNvPr>
          <p:cNvSpPr txBox="1"/>
          <p:nvPr/>
        </p:nvSpPr>
        <p:spPr>
          <a:xfrm>
            <a:off x="2101342" y="1614176"/>
            <a:ext cx="654304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lang="es-ES" dirty="0"/>
          </a:p>
          <a:p>
            <a:pPr algn="l">
              <a:defRPr sz="1700" b="0">
                <a:solidFill>
                  <a:srgbClr val="2B353F"/>
                </a:solidFill>
                <a:latin typeface="Aptos"/>
              </a:defRPr>
            </a:pPr>
            <a:endParaRPr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AC78365-45BE-81EE-8BA7-AB729C04552A}"/>
              </a:ext>
            </a:extLst>
          </p:cNvPr>
          <p:cNvSpPr txBox="1"/>
          <p:nvPr/>
        </p:nvSpPr>
        <p:spPr>
          <a:xfrm>
            <a:off x="2087980" y="2245118"/>
            <a:ext cx="6146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effectLst/>
                <a:latin typeface="Arial Black" panose="020B0A04020102020204" pitchFamily="34" charset="0"/>
              </a:rPr>
              <a:t>Categorías LÍderes en Facturación: </a:t>
            </a:r>
          </a:p>
          <a:p>
            <a:r>
              <a:rPr lang="es-ES" sz="1800" dirty="0">
                <a:effectLst/>
                <a:latin typeface="Aptos" panose="020B0004020202020204" pitchFamily="34" charset="0"/>
              </a:rPr>
              <a:t>Las subcategorías de </a:t>
            </a:r>
            <a:r>
              <a:rPr lang="es-ES" sz="1800" b="1" dirty="0">
                <a:effectLst/>
                <a:latin typeface="Aptos" panose="020B0004020202020204" pitchFamily="34" charset="0"/>
              </a:rPr>
              <a:t>Carnes</a:t>
            </a:r>
            <a:r>
              <a:rPr lang="es-ES" sz="1800" dirty="0">
                <a:effectLst/>
                <a:latin typeface="Aptos" panose="020B0004020202020204" pitchFamily="34" charset="0"/>
              </a:rPr>
              <a:t> (encabezada por marcas como </a:t>
            </a:r>
            <a:r>
              <a:rPr lang="es-ES" sz="1800" i="1" dirty="0">
                <a:effectLst/>
                <a:latin typeface="Aptos" panose="020B0004020202020204" pitchFamily="34" charset="0"/>
              </a:rPr>
              <a:t>FlexiFusion</a:t>
            </a:r>
            <a:r>
              <a:rPr lang="es-ES" sz="1800" dirty="0">
                <a:effectLst/>
                <a:latin typeface="Aptos" panose="020B0004020202020204" pitchFamily="34" charset="0"/>
              </a:rPr>
              <a:t> y </a:t>
            </a:r>
            <a:r>
              <a:rPr lang="es-ES" sz="1800" i="1" dirty="0">
                <a:effectLst/>
                <a:latin typeface="Aptos" panose="020B0004020202020204" pitchFamily="34" charset="0"/>
              </a:rPr>
              <a:t>AquaLume</a:t>
            </a:r>
            <a:r>
              <a:rPr lang="es-ES" sz="1800" dirty="0">
                <a:effectLst/>
                <a:latin typeface="Aptos" panose="020B0004020202020204" pitchFamily="34" charset="0"/>
              </a:rPr>
              <a:t>) y </a:t>
            </a:r>
            <a:r>
              <a:rPr lang="es-ES" sz="1800" b="1" dirty="0">
                <a:effectLst/>
                <a:latin typeface="Aptos" panose="020B0004020202020204" pitchFamily="34" charset="0"/>
              </a:rPr>
              <a:t>Vegetales</a:t>
            </a:r>
            <a:r>
              <a:rPr lang="es-ES" sz="1800" dirty="0">
                <a:effectLst/>
                <a:latin typeface="Aptos" panose="020B0004020202020204" pitchFamily="34" charset="0"/>
              </a:rPr>
              <a:t> registran los picos más altos de ventas individuales (~$11,8 mill. y $11,5 mill. respectivamente), superando a categorías secundarias como </a:t>
            </a:r>
            <a:r>
              <a:rPr lang="es-ES" sz="1800" i="1" dirty="0">
                <a:effectLst/>
                <a:latin typeface="Aptos" panose="020B0004020202020204" pitchFamily="34" charset="0"/>
              </a:rPr>
              <a:t>Condimentos</a:t>
            </a:r>
            <a:r>
              <a:rPr lang="es-ES" sz="1800" dirty="0">
                <a:effectLst/>
                <a:latin typeface="Aptos" panose="020B0004020202020204" pitchFamily="34" charset="0"/>
              </a:rPr>
              <a:t> o </a:t>
            </a:r>
            <a:r>
              <a:rPr lang="es-ES" sz="1800" i="1" dirty="0">
                <a:effectLst/>
                <a:latin typeface="Aptos" panose="020B0004020202020204" pitchFamily="34" charset="0"/>
              </a:rPr>
              <a:t>Untables</a:t>
            </a:r>
            <a:r>
              <a:rPr lang="es-ES" sz="1800" dirty="0">
                <a:effectLst/>
                <a:latin typeface="Aptos" panose="020B0004020202020204" pitchFamily="34" charset="0"/>
              </a:rPr>
              <a:t>.</a:t>
            </a:r>
            <a:endParaRPr lang="es-ES" dirty="0">
              <a:latin typeface="Aptos" panose="020B0004020202020204" pitchFamily="34" charset="0"/>
            </a:endParaRPr>
          </a:p>
        </p:txBody>
      </p:sp>
      <p:sp>
        <p:nvSpPr>
          <p:cNvPr id="28" name="Rectangle 10">
            <a:extLst>
              <a:ext uri="{FF2B5EF4-FFF2-40B4-BE49-F238E27FC236}">
                <a16:creationId xmlns:a16="http://schemas.microsoft.com/office/drawing/2014/main" id="{44F09E71-CE2F-36D0-CB7C-365D192B6AF3}"/>
              </a:ext>
            </a:extLst>
          </p:cNvPr>
          <p:cNvSpPr/>
          <p:nvPr/>
        </p:nvSpPr>
        <p:spPr>
          <a:xfrm>
            <a:off x="8943848" y="2082800"/>
            <a:ext cx="45719" cy="2171700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E07E9B73-6FA4-7982-FCB2-22A4A0021758}"/>
              </a:ext>
            </a:extLst>
          </p:cNvPr>
          <p:cNvSpPr txBox="1"/>
          <p:nvPr/>
        </p:nvSpPr>
        <p:spPr>
          <a:xfrm>
            <a:off x="594360" y="320040"/>
            <a:ext cx="365760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1891C8"/>
                </a:solidFill>
                <a:latin typeface="Aptos"/>
              </a:defRPr>
            </a:pPr>
            <a:r>
              <a:rPr lang="es-CO" sz="1050" b="1" dirty="0"/>
              <a:t> </a:t>
            </a:r>
            <a:r>
              <a:rPr lang="es-ES" sz="1000" b="1" i="1" dirty="0"/>
              <a:t>Descomposición y Segmentación de Ventas</a:t>
            </a:r>
            <a:endParaRPr lang="es-CO" sz="1050" b="1" dirty="0"/>
          </a:p>
          <a:p>
            <a:pPr algn="l">
              <a:defRPr sz="900" b="1">
                <a:solidFill>
                  <a:srgbClr val="1891C8"/>
                </a:solidFill>
                <a:latin typeface="Aptos"/>
              </a:defRPr>
            </a:pPr>
            <a:endParaRPr sz="1050" dirty="0"/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8CDAE12A-1644-78BF-4562-12EC78FA55BC}"/>
              </a:ext>
            </a:extLst>
          </p:cNvPr>
          <p:cNvSpPr txBox="1"/>
          <p:nvPr/>
        </p:nvSpPr>
        <p:spPr>
          <a:xfrm>
            <a:off x="746760" y="6172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dirty="0" err="1"/>
              <a:t>Análisis</a:t>
            </a:r>
            <a:r>
              <a:rPr dirty="0"/>
              <a:t> de</a:t>
            </a:r>
            <a:r>
              <a:rPr lang="es-CO" dirty="0"/>
              <a:t>l</a:t>
            </a:r>
            <a:r>
              <a:rPr dirty="0"/>
              <a:t> </a:t>
            </a:r>
            <a:r>
              <a:rPr dirty="0" err="1"/>
              <a:t>resultado</a:t>
            </a:r>
            <a:r>
              <a:rPr lang="es-CO" dirty="0"/>
              <a:t> #3</a:t>
            </a:r>
            <a:endParaRPr dirty="0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4C59D7AD-3708-CBAA-E752-0CB280DC501F}"/>
              </a:ext>
            </a:extLst>
          </p:cNvPr>
          <p:cNvSpPr/>
          <p:nvPr/>
        </p:nvSpPr>
        <p:spPr>
          <a:xfrm>
            <a:off x="1801876" y="2082800"/>
            <a:ext cx="45719" cy="2862322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14E755B1-984F-135A-50EB-1E2A5A11AD36}"/>
              </a:ext>
            </a:extLst>
          </p:cNvPr>
          <p:cNvSpPr/>
          <p:nvPr/>
        </p:nvSpPr>
        <p:spPr>
          <a:xfrm>
            <a:off x="1847595" y="1627632"/>
            <a:ext cx="7141972" cy="392861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dirty="0"/>
              <a:t>Categorías LÍderes en Facturación:</a:t>
            </a:r>
            <a:r>
              <a:rPr lang="es-ES" dirty="0"/>
              <a:t> Las subcategorías de </a:t>
            </a:r>
            <a:r>
              <a:rPr lang="es-ES" b="1" dirty="0"/>
              <a:t>Carnes</a:t>
            </a:r>
            <a:r>
              <a:rPr lang="es-ES" dirty="0"/>
              <a:t> (encabezada por marcas como </a:t>
            </a:r>
            <a:r>
              <a:rPr lang="es-ES" i="1" dirty="0"/>
              <a:t>FlexiFusion</a:t>
            </a:r>
            <a:r>
              <a:rPr lang="es-ES" dirty="0"/>
              <a:t> y </a:t>
            </a:r>
            <a:r>
              <a:rPr lang="es-ES" i="1" dirty="0"/>
              <a:t>AquaLume</a:t>
            </a:r>
            <a:r>
              <a:rPr lang="es-ES" dirty="0"/>
              <a:t>) y </a:t>
            </a:r>
            <a:r>
              <a:rPr lang="es-ES" b="1" dirty="0"/>
              <a:t>Vegetales</a:t>
            </a:r>
            <a:r>
              <a:rPr lang="es-ES" dirty="0"/>
              <a:t> registran los picos más altos de ventas individuales (~$11,8 mill. y $11,5 mill. respectivamente), superando a categorías secundarias como </a:t>
            </a:r>
            <a:r>
              <a:rPr lang="es-ES" i="1" dirty="0"/>
              <a:t>Condimentos</a:t>
            </a:r>
            <a:r>
              <a:rPr lang="es-ES" dirty="0"/>
              <a:t> o </a:t>
            </a:r>
            <a:r>
              <a:rPr lang="es-ES" i="1" dirty="0"/>
              <a:t>Untables</a:t>
            </a:r>
            <a:r>
              <a:rPr lang="es-ES" dirty="0"/>
              <a:t>.</a:t>
            </a: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8A176C05-A6C8-886B-4356-1DCF630655CC}"/>
              </a:ext>
            </a:extLst>
          </p:cNvPr>
          <p:cNvSpPr/>
          <p:nvPr/>
        </p:nvSpPr>
        <p:spPr>
          <a:xfrm>
            <a:off x="8980425" y="2082800"/>
            <a:ext cx="54862" cy="2862322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A592D01-D00E-390B-2E5C-DE87F0C26B9D}"/>
              </a:ext>
            </a:extLst>
          </p:cNvPr>
          <p:cNvSpPr txBox="1"/>
          <p:nvPr/>
        </p:nvSpPr>
        <p:spPr>
          <a:xfrm>
            <a:off x="2324100" y="1940226"/>
            <a:ext cx="6019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Arial Black" panose="020B0A04020102020204" pitchFamily="34" charset="0"/>
              </a:rPr>
              <a:t>Predominio Continental:</a:t>
            </a:r>
            <a:r>
              <a:rPr lang="es-ES" dirty="0">
                <a:latin typeface="Arial Black" panose="020B0A04020102020204" pitchFamily="34" charset="0"/>
              </a:rPr>
              <a:t> </a:t>
            </a:r>
            <a:r>
              <a:rPr lang="es-ES" b="1" dirty="0">
                <a:latin typeface="Aptos" panose="020B0004020202020204" pitchFamily="34" charset="0"/>
              </a:rPr>
              <a:t>Europa</a:t>
            </a:r>
            <a:r>
              <a:rPr lang="es-ES" dirty="0">
                <a:latin typeface="Aptos" panose="020B0004020202020204" pitchFamily="34" charset="0"/>
              </a:rPr>
              <a:t> (26,23% / $102,41 mill.) y </a:t>
            </a:r>
            <a:r>
              <a:rPr lang="es-ES" b="1" dirty="0">
                <a:latin typeface="Aptos" panose="020B0004020202020204" pitchFamily="34" charset="0"/>
              </a:rPr>
              <a:t>Asia</a:t>
            </a:r>
            <a:r>
              <a:rPr lang="es-ES" dirty="0">
                <a:latin typeface="Aptos" panose="020B0004020202020204" pitchFamily="34" charset="0"/>
              </a:rPr>
              <a:t> (25,73% / $100,44 mill.) representan en conjunto más del 51% de las ventas globales ($390,34 mill. totales), consolidándose como los mercados regionales prioritarios.</a:t>
            </a:r>
          </a:p>
          <a:p>
            <a:endParaRPr lang="es-ES" dirty="0"/>
          </a:p>
          <a:p>
            <a:r>
              <a:rPr lang="es-ES" b="1" dirty="0">
                <a:latin typeface="Arial Black" panose="020B0A04020102020204" pitchFamily="34" charset="0"/>
              </a:rPr>
              <a:t>Estructura del Árbol de Descomposición</a:t>
            </a:r>
            <a:r>
              <a:rPr lang="es-ES" b="1" dirty="0"/>
              <a:t>:</a:t>
            </a:r>
            <a:r>
              <a:rPr lang="es-ES" dirty="0"/>
              <a:t> </a:t>
            </a:r>
            <a:r>
              <a:rPr lang="es-ES" dirty="0">
                <a:latin typeface="Aptos" panose="020B0004020202020204" pitchFamily="34" charset="0"/>
              </a:rPr>
              <a:t>La categoría </a:t>
            </a:r>
            <a:r>
              <a:rPr lang="es-ES" b="1" dirty="0">
                <a:latin typeface="Aptos" panose="020B0004020202020204" pitchFamily="34" charset="0"/>
              </a:rPr>
              <a:t>Carnes</a:t>
            </a:r>
            <a:r>
              <a:rPr lang="es-ES" dirty="0">
                <a:latin typeface="Aptos" panose="020B0004020202020204" pitchFamily="34" charset="0"/>
              </a:rPr>
              <a:t> es el principal motor de valor dentro de la oferta ($83,84 mill.), concentrando sus mayores ingresos en la marca </a:t>
            </a:r>
            <a:r>
              <a:rPr lang="es-ES" i="1" dirty="0">
                <a:latin typeface="Aptos" panose="020B0004020202020204" pitchFamily="34" charset="0"/>
              </a:rPr>
              <a:t>FlexiFusion</a:t>
            </a:r>
            <a:r>
              <a:rPr lang="es-ES" dirty="0">
                <a:latin typeface="Aptos" panose="020B0004020202020204" pitchFamily="34" charset="0"/>
              </a:rPr>
              <a:t> ($11,70 mill.) y en productos específicos como la </a:t>
            </a:r>
            <a:r>
              <a:rPr lang="es-ES" i="1" dirty="0">
                <a:latin typeface="Aptos" panose="020B0004020202020204" pitchFamily="34" charset="0"/>
              </a:rPr>
              <a:t>Carne de cordero</a:t>
            </a:r>
            <a:r>
              <a:rPr lang="es-ES" dirty="0">
                <a:latin typeface="Aptos" panose="020B0004020202020204" pitchFamily="34" charset="0"/>
              </a:rPr>
              <a:t> ($3,50 mill.) y el </a:t>
            </a:r>
            <a:r>
              <a:rPr lang="es-ES" i="1" dirty="0">
                <a:latin typeface="Aptos" panose="020B0004020202020204" pitchFamily="34" charset="0"/>
              </a:rPr>
              <a:t>Jamón</a:t>
            </a:r>
            <a:r>
              <a:rPr lang="es-ES" dirty="0">
                <a:latin typeface="Aptos" panose="020B0004020202020204" pitchFamily="34" charset="0"/>
              </a:rPr>
              <a:t> ($3,07 mill.).</a:t>
            </a:r>
          </a:p>
          <a:p>
            <a:endParaRPr lang="es-CO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14E755B1-984F-135A-50EB-1E2A5A11AD36}"/>
              </a:ext>
            </a:extLst>
          </p:cNvPr>
          <p:cNvSpPr/>
          <p:nvPr/>
        </p:nvSpPr>
        <p:spPr>
          <a:xfrm>
            <a:off x="789014" y="1311564"/>
            <a:ext cx="2434478" cy="5087641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i="1" dirty="0" smtClean="0"/>
              <a:t>s</a:t>
            </a:r>
            <a:r>
              <a:rPr lang="es-ES" dirty="0" smtClean="0"/>
              <a:t>.</a:t>
            </a:r>
            <a:endParaRPr lang="es-ES" dirty="0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4C59D7AD-3708-CBAA-E752-0CB280DC501F}"/>
              </a:ext>
            </a:extLst>
          </p:cNvPr>
          <p:cNvSpPr/>
          <p:nvPr/>
        </p:nvSpPr>
        <p:spPr>
          <a:xfrm>
            <a:off x="753062" y="1440873"/>
            <a:ext cx="45719" cy="4842877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4C59D7AD-3708-CBAA-E752-0CB280DC501F}"/>
              </a:ext>
            </a:extLst>
          </p:cNvPr>
          <p:cNvSpPr/>
          <p:nvPr/>
        </p:nvSpPr>
        <p:spPr>
          <a:xfrm>
            <a:off x="4109486" y="1440873"/>
            <a:ext cx="45719" cy="4756727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uadroTexto 5"/>
          <p:cNvSpPr txBox="1"/>
          <p:nvPr/>
        </p:nvSpPr>
        <p:spPr>
          <a:xfrm>
            <a:off x="907391" y="1546999"/>
            <a:ext cx="22074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Arial Black" panose="020B0A04020102020204" pitchFamily="34" charset="0"/>
                <a:cs typeface="Arial" panose="020B0604020202020204" pitchFamily="34" charset="0"/>
              </a:rPr>
              <a:t>Problemática identificada</a:t>
            </a:r>
          </a:p>
          <a:p>
            <a:r>
              <a:rPr lang="es-MX" dirty="0">
                <a:cs typeface="Arial" panose="020B0604020202020204" pitchFamily="34" charset="0"/>
              </a:rPr>
              <a:t>El análisis muestra que existe una diferencia en el desempeño de las categorías. </a:t>
            </a:r>
            <a:r>
              <a:rPr lang="es-MX" b="1" dirty="0">
                <a:cs typeface="Arial" panose="020B0604020202020204" pitchFamily="34" charset="0"/>
              </a:rPr>
              <a:t>Carnes y Vegetales presentan los mayores niveles de facturación</a:t>
            </a:r>
            <a:r>
              <a:rPr lang="es-MX" dirty="0">
                <a:cs typeface="Arial" panose="020B0604020202020204" pitchFamily="34" charset="0"/>
              </a:rPr>
              <a:t>, mientras que </a:t>
            </a:r>
            <a:r>
              <a:rPr lang="es-MX" b="1" dirty="0">
                <a:cs typeface="Arial" panose="020B0604020202020204" pitchFamily="34" charset="0"/>
              </a:rPr>
              <a:t>Condimentos y </a:t>
            </a:r>
            <a:r>
              <a:rPr lang="es-MX" b="1" dirty="0" err="1">
                <a:cs typeface="Arial" panose="020B0604020202020204" pitchFamily="34" charset="0"/>
              </a:rPr>
              <a:t>Untables</a:t>
            </a:r>
            <a:r>
              <a:rPr lang="es-MX" b="1" dirty="0">
                <a:cs typeface="Arial" panose="020B0604020202020204" pitchFamily="34" charset="0"/>
              </a:rPr>
              <a:t> tienen un desempeño inferior</a:t>
            </a:r>
            <a:r>
              <a:rPr lang="es-MX" dirty="0">
                <a:cs typeface="Arial" panose="020B0604020202020204" pitchFamily="34" charset="0"/>
              </a:rPr>
              <a:t> frente a estas categorías. </a:t>
            </a: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14E755B1-984F-135A-50EB-1E2A5A11AD36}"/>
              </a:ext>
            </a:extLst>
          </p:cNvPr>
          <p:cNvSpPr/>
          <p:nvPr/>
        </p:nvSpPr>
        <p:spPr>
          <a:xfrm>
            <a:off x="4155205" y="1311565"/>
            <a:ext cx="2629598" cy="4886036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i="1" dirty="0" smtClean="0"/>
              <a:t>s</a:t>
            </a:r>
            <a:r>
              <a:rPr lang="es-ES" dirty="0" smtClean="0"/>
              <a:t>.</a:t>
            </a:r>
            <a:endParaRPr lang="es-ES" dirty="0"/>
          </a:p>
        </p:txBody>
      </p:sp>
      <p:sp>
        <p:nvSpPr>
          <p:cNvPr id="9" name="CuadroTexto 8"/>
          <p:cNvSpPr txBox="1"/>
          <p:nvPr/>
        </p:nvSpPr>
        <p:spPr>
          <a:xfrm>
            <a:off x="4350326" y="1440873"/>
            <a:ext cx="243447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Arial Black" panose="020B0A04020102020204" pitchFamily="34" charset="0"/>
              </a:rPr>
              <a:t>¿Qué productos tienen menor desempeño?</a:t>
            </a:r>
          </a:p>
          <a:p>
            <a:r>
              <a:rPr lang="es-MX" dirty="0"/>
              <a:t>Los productos pertenecientes a las categorías con menor facturación presentan menores resultados de ventas. El </a:t>
            </a:r>
            <a:r>
              <a:rPr lang="es-MX" dirty="0" err="1"/>
              <a:t>dashboard</a:t>
            </a:r>
            <a:r>
              <a:rPr lang="es-MX" dirty="0"/>
              <a:t> permite analizar estos productos mediante </a:t>
            </a:r>
            <a:r>
              <a:rPr lang="es-MX" b="1" dirty="0"/>
              <a:t>subcategoría, marca y nombre del producto</a:t>
            </a:r>
            <a:r>
              <a:rPr lang="es-MX" dirty="0"/>
              <a:t>, aunque no establece una causa directa de por qué tienen menor venta.</a:t>
            </a:r>
          </a:p>
          <a:p>
            <a:endParaRPr lang="en-US" dirty="0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14E755B1-984F-135A-50EB-1E2A5A11AD36}"/>
              </a:ext>
            </a:extLst>
          </p:cNvPr>
          <p:cNvSpPr/>
          <p:nvPr/>
        </p:nvSpPr>
        <p:spPr>
          <a:xfrm>
            <a:off x="7521396" y="1293092"/>
            <a:ext cx="3460640" cy="5055221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i="1" dirty="0" smtClean="0"/>
              <a:t>s</a:t>
            </a:r>
            <a:r>
              <a:rPr lang="es-ES" dirty="0" smtClean="0"/>
              <a:t>.</a:t>
            </a:r>
            <a:endParaRPr lang="es-ES" dirty="0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4C59D7AD-3708-CBAA-E752-0CB280DC501F}"/>
              </a:ext>
            </a:extLst>
          </p:cNvPr>
          <p:cNvSpPr/>
          <p:nvPr/>
        </p:nvSpPr>
        <p:spPr>
          <a:xfrm>
            <a:off x="7475677" y="1440873"/>
            <a:ext cx="45719" cy="4756727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uadroTexto 13"/>
          <p:cNvSpPr txBox="1"/>
          <p:nvPr/>
        </p:nvSpPr>
        <p:spPr>
          <a:xfrm>
            <a:off x="7716517" y="1546999"/>
            <a:ext cx="317107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Arial Black" panose="020B0A04020102020204" pitchFamily="34" charset="0"/>
              </a:rPr>
              <a:t>Solución</a:t>
            </a:r>
          </a:p>
          <a:p>
            <a:r>
              <a:rPr lang="es-MX" b="1" dirty="0"/>
              <a:t>Concentrar el análisis y las estrategias comerciales en las categorías de menor desempeño, especialmente Condimentos y </a:t>
            </a:r>
            <a:r>
              <a:rPr lang="es-MX" b="1" dirty="0" err="1"/>
              <a:t>Untables</a:t>
            </a:r>
            <a:r>
              <a:rPr lang="es-MX" b="1" dirty="0"/>
              <a:t>, tomando como referencia el comportamiento de las categorías líderes como Carnes y Vegetales.</a:t>
            </a:r>
            <a:r>
              <a:rPr lang="es-MX" dirty="0"/>
              <a:t> De esta manera se busca mejorar el rendimiento de los productos con menores ventas y aprovechar la información obtenida del </a:t>
            </a:r>
            <a:r>
              <a:rPr lang="es-MX" dirty="0" err="1"/>
              <a:t>dashboard</a:t>
            </a:r>
            <a:r>
              <a:rPr lang="es-MX" dirty="0"/>
              <a:t> para orientar las decisiones comerciales.</a:t>
            </a:r>
          </a:p>
          <a:p>
            <a:endParaRPr lang="en-U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434109" y="489527"/>
            <a:ext cx="6155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700" b="1" dirty="0" smtClean="0">
                <a:solidFill>
                  <a:srgbClr val="142C46"/>
                </a:solidFill>
                <a:latin typeface="Aptos"/>
              </a:rPr>
              <a:t>Problemáticas</a:t>
            </a:r>
            <a:r>
              <a:rPr lang="es-MX" dirty="0" smtClean="0"/>
              <a:t> </a:t>
            </a:r>
            <a:r>
              <a:rPr lang="es-MX" sz="2800" dirty="0" smtClean="0">
                <a:latin typeface="Aptos" panose="020B0004020202020204"/>
              </a:rPr>
              <a:t>y</a:t>
            </a:r>
            <a:r>
              <a:rPr lang="es-MX" dirty="0" smtClean="0"/>
              <a:t> </a:t>
            </a:r>
            <a:r>
              <a:rPr lang="es-MX" sz="2700" b="1" dirty="0">
                <a:solidFill>
                  <a:srgbClr val="142C46"/>
                </a:solidFill>
                <a:latin typeface="Aptos"/>
              </a:rPr>
              <a:t>Solución</a:t>
            </a:r>
            <a:endParaRPr lang="en-US" sz="2700" b="1" dirty="0">
              <a:solidFill>
                <a:srgbClr val="142C46"/>
              </a:solidFill>
              <a:latin typeface="Aptos"/>
            </a:endParaRP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E07E9B73-6FA4-7982-FCB2-22A4A0021758}"/>
              </a:ext>
            </a:extLst>
          </p:cNvPr>
          <p:cNvSpPr txBox="1"/>
          <p:nvPr/>
        </p:nvSpPr>
        <p:spPr>
          <a:xfrm>
            <a:off x="594360" y="320040"/>
            <a:ext cx="365760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1891C8"/>
                </a:solidFill>
                <a:latin typeface="Aptos"/>
              </a:defRPr>
            </a:pPr>
            <a:r>
              <a:rPr lang="es-CO" sz="1050" b="1" dirty="0"/>
              <a:t> </a:t>
            </a:r>
            <a:r>
              <a:rPr lang="es-ES" sz="1000" b="1" i="1" dirty="0" smtClean="0"/>
              <a:t>Análisis de inconvenientes</a:t>
            </a:r>
            <a:endParaRPr lang="es-CO" sz="1050" b="1" dirty="0"/>
          </a:p>
          <a:p>
            <a:pPr algn="l">
              <a:defRPr sz="900" b="1">
                <a:solidFill>
                  <a:srgbClr val="1891C8"/>
                </a:solidFill>
                <a:latin typeface="Aptos"/>
              </a:defRPr>
            </a:pPr>
            <a:endParaRPr sz="1050" dirty="0"/>
          </a:p>
        </p:txBody>
      </p:sp>
    </p:spTree>
    <p:extLst>
      <p:ext uri="{BB962C8B-B14F-4D97-AF65-F5344CB8AC3E}">
        <p14:creationId xmlns:p14="http://schemas.microsoft.com/office/powerpoint/2010/main" val="2728717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891C8"/>
                </a:solidFill>
                <a:latin typeface="Aptos"/>
              </a:defRPr>
            </a:pPr>
            <a: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3892" y="535803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lang="es-CO" dirty="0"/>
              <a:t>Conclusiones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16736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66543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16352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1596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C0577F43-31D4-57D8-74E5-B3063EE7384B}"/>
              </a:ext>
            </a:extLst>
          </p:cNvPr>
          <p:cNvSpPr/>
          <p:nvPr/>
        </p:nvSpPr>
        <p:spPr>
          <a:xfrm>
            <a:off x="1258823" y="934420"/>
            <a:ext cx="9964989" cy="549381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dirty="0"/>
              <a:t>Categorías LÍderes en Facturación:</a:t>
            </a:r>
            <a:r>
              <a:rPr lang="es-ES" dirty="0"/>
              <a:t> Las subcategorías de </a:t>
            </a:r>
            <a:r>
              <a:rPr lang="es-ES" b="1" dirty="0"/>
              <a:t>Carnes</a:t>
            </a:r>
            <a:r>
              <a:rPr lang="es-ES" dirty="0"/>
              <a:t> (encabezada por marcas como </a:t>
            </a:r>
            <a:r>
              <a:rPr lang="es-ES" i="1" dirty="0"/>
              <a:t>FlexiFusion</a:t>
            </a:r>
            <a:r>
              <a:rPr lang="es-ES" dirty="0"/>
              <a:t> y </a:t>
            </a:r>
            <a:r>
              <a:rPr lang="es-ES" i="1" dirty="0"/>
              <a:t>AquaLume</a:t>
            </a:r>
            <a:r>
              <a:rPr lang="es-ES" dirty="0"/>
              <a:t>) y </a:t>
            </a:r>
            <a:r>
              <a:rPr lang="es-ES" b="1" dirty="0"/>
              <a:t>Vegetales</a:t>
            </a:r>
            <a:r>
              <a:rPr lang="es-ES" dirty="0"/>
              <a:t> registran los picos más altos de ventas individuales (~$11,8 mill. y $11,5 mill. respectivamente), superando a categorías secundarias como </a:t>
            </a:r>
            <a:r>
              <a:rPr lang="es-ES" i="1" dirty="0"/>
              <a:t>Condimentos</a:t>
            </a:r>
            <a:r>
              <a:rPr lang="es-ES" dirty="0"/>
              <a:t> o </a:t>
            </a:r>
            <a:r>
              <a:rPr lang="es-ES" i="1" dirty="0"/>
              <a:t>Untables</a:t>
            </a:r>
            <a:r>
              <a:rPr lang="es-ES" dirty="0"/>
              <a:t>.</a:t>
            </a: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CD54E67B-D9C6-D44F-D6F0-EAAF76C56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802" y="1181456"/>
            <a:ext cx="9529722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 conclusión, este proyecto permitió demostrar cómo Power BI puede transformar los datos de ventas de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DataDiaUno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en información clara, organizada y útil para la toma de decisiones. A través de la preparación de los datos, la creación de medidas DAX y el uso de diferentes visualizaciones, fue posible analizar las ventas desde diferentes perspectivas, como el comportamiento temporal, la ubicación geográfica, los productos y los clientes.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Los resultados muestran un comportamiento estable de las ventas y la ganancia entre 2020 y 2023, con un margen del 46%. Además, se identificó que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Europa y Asia representan más del 51% de las ventas globales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, mientras que la categoría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Carnes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se destaca como el principal motor de valor.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Finalmente, el dashboard facilita la interpretación de estos resultados y permite identificar oportunidades, comparar el desempeño de diferentes mercados y productos y apoyar decisiones empresariales basadas en datos. De esta manera, se evidencia que el análisis de datos no consiste únicamente en presentar información, sino en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convertirla en conocimiento que permita tomar mejores decisiones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3F0FA090-1D18-EC45-A229-365814EB0518}"/>
              </a:ext>
            </a:extLst>
          </p:cNvPr>
          <p:cNvSpPr/>
          <p:nvPr/>
        </p:nvSpPr>
        <p:spPr>
          <a:xfrm flipH="1">
            <a:off x="1069848" y="1459301"/>
            <a:ext cx="170687" cy="4492691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3F0FA090-1D18-EC45-A229-365814EB0518}"/>
              </a:ext>
            </a:extLst>
          </p:cNvPr>
          <p:cNvSpPr/>
          <p:nvPr/>
        </p:nvSpPr>
        <p:spPr>
          <a:xfrm flipH="1">
            <a:off x="11217253" y="1459302"/>
            <a:ext cx="170687" cy="4492691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88A2672-0267-48F1-AEAD-E83CCF1E55F6}">
  <we:reference id="wa200007130" version="1.0.0.1" store="es-E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1065</TotalTime>
  <Words>1326</Words>
  <Application>Microsoft Office PowerPoint</Application>
  <PresentationFormat>Panorámica</PresentationFormat>
  <Paragraphs>163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Aptos</vt:lpstr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SENA</dc:creator>
  <cp:keywords/>
  <dc:description>generated using python-pptx</dc:description>
  <cp:lastModifiedBy>SENA</cp:lastModifiedBy>
  <cp:revision>29</cp:revision>
  <dcterms:created xsi:type="dcterms:W3CDTF">2013-01-27T09:14:16Z</dcterms:created>
  <dcterms:modified xsi:type="dcterms:W3CDTF">2026-09-14T16:24:51Z</dcterms:modified>
  <cp:category/>
</cp:coreProperties>
</file>