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B36126-C328-4CC8-901C-B5EC8F393010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CAC70E-61D0-44F9-9665-572340CED0B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614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9000-6BC5-42FE-B765-61B930A11AEE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1E43-8FD8-47C5-9B30-7D5D42EB0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7755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9000-6BC5-42FE-B765-61B930A11AEE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1E43-8FD8-47C5-9B30-7D5D42EB0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286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9000-6BC5-42FE-B765-61B930A11AEE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1E43-8FD8-47C5-9B30-7D5D42EB0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7208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9000-6BC5-42FE-B765-61B930A11AEE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1E43-8FD8-47C5-9B30-7D5D42EB0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210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9000-6BC5-42FE-B765-61B930A11AEE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1E43-8FD8-47C5-9B30-7D5D42EB0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3725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9000-6BC5-42FE-B765-61B930A11AEE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1E43-8FD8-47C5-9B30-7D5D42EB0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2031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9000-6BC5-42FE-B765-61B930A11AEE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1E43-8FD8-47C5-9B30-7D5D42EB0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6768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9000-6BC5-42FE-B765-61B930A11AEE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1E43-8FD8-47C5-9B30-7D5D42EB0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3635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9000-6BC5-42FE-B765-61B930A11AEE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1E43-8FD8-47C5-9B30-7D5D42EB0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5468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9000-6BC5-42FE-B765-61B930A11AEE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1E43-8FD8-47C5-9B30-7D5D42EB0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8313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9000-6BC5-42FE-B765-61B930A11AEE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1E43-8FD8-47C5-9B30-7D5D42EB0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4088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79000-6BC5-42FE-B765-61B930A11AEE}" type="datetimeFigureOut">
              <a:rPr lang="es-CO" smtClean="0"/>
              <a:t>21/07/2026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51E43-8FD8-47C5-9B30-7D5D42EB0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5518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937"/>
            <a:ext cx="5581292" cy="3178085"/>
          </a:xfrm>
          <a:prstGeom prst="rect">
            <a:avLst/>
          </a:prstGeom>
        </p:spPr>
      </p:pic>
      <p:sp>
        <p:nvSpPr>
          <p:cNvPr id="6" name="AutoShape 6" descr="blob:https://web.whatsapp.com/87b3fdda-f42d-4d57-a567-181d16d9c92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291" y="3186022"/>
            <a:ext cx="6610709" cy="3671978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5736867" y="7937"/>
            <a:ext cx="55036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Paso 1. Acceder a la opción Obtener datos</a:t>
            </a:r>
          </a:p>
          <a:p>
            <a:endParaRPr lang="es-MX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inició Power BI Desktop y se seleccionó la opción </a:t>
            </a:r>
            <a:r>
              <a:rPr lang="es-MX" b="1" dirty="0" smtClean="0"/>
              <a:t>Obtener datos</a:t>
            </a:r>
            <a:r>
              <a:rPr lang="es-MX" dirty="0" smtClean="0"/>
              <a:t> desde la pestaña </a:t>
            </a:r>
            <a:r>
              <a:rPr lang="es-MX" b="1" dirty="0" smtClean="0"/>
              <a:t>Inicio</a:t>
            </a:r>
            <a:r>
              <a:rPr lang="es-MX" dirty="0" smtClean="0"/>
              <a:t>.</a:t>
            </a:r>
          </a:p>
          <a:p>
            <a:r>
              <a:rPr lang="es-MX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hizo clic en </a:t>
            </a:r>
            <a:r>
              <a:rPr lang="es-MX" b="1" dirty="0" smtClean="0"/>
              <a:t>Más...</a:t>
            </a:r>
            <a:r>
              <a:rPr lang="es-MX" dirty="0" smtClean="0"/>
              <a:t> para visualizar el listado completo de conectores disponibles.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Este paso permite seleccionar el origen desde el cual se importarán los datos al proyecto.</a:t>
            </a:r>
          </a:p>
          <a:p>
            <a:endParaRPr lang="es-CO" dirty="0"/>
          </a:p>
        </p:txBody>
      </p:sp>
      <p:sp>
        <p:nvSpPr>
          <p:cNvPr id="13" name="CuadroTexto 12"/>
          <p:cNvSpPr txBox="1"/>
          <p:nvPr/>
        </p:nvSpPr>
        <p:spPr>
          <a:xfrm>
            <a:off x="164052" y="3441680"/>
            <a:ext cx="525318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Paso 2. Seleccionar la base de datos MySQL</a:t>
            </a:r>
          </a:p>
          <a:p>
            <a:endParaRPr lang="es-MX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En la ventana </a:t>
            </a:r>
            <a:r>
              <a:rPr lang="es-MX" b="1" dirty="0" smtClean="0"/>
              <a:t>Obtener datos</a:t>
            </a:r>
            <a:r>
              <a:rPr lang="es-MX" dirty="0" smtClean="0"/>
              <a:t>, se seleccionó la categoría </a:t>
            </a:r>
            <a:r>
              <a:rPr lang="es-MX" b="1" dirty="0" smtClean="0"/>
              <a:t>Base de datos</a:t>
            </a:r>
            <a:r>
              <a:rPr lang="es-MX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eligió el conector </a:t>
            </a:r>
            <a:r>
              <a:rPr lang="es-MX" b="1" dirty="0" smtClean="0"/>
              <a:t>Base de datos MySQL</a:t>
            </a:r>
            <a:r>
              <a:rPr lang="es-MX" dirty="0" smtClean="0"/>
              <a:t> como origen de la información.</a:t>
            </a:r>
          </a:p>
          <a:p>
            <a:r>
              <a:rPr lang="es-MX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Finalmente, se hizo clic en </a:t>
            </a:r>
            <a:r>
              <a:rPr lang="es-MX" b="1" dirty="0" smtClean="0"/>
              <a:t>Conectar</a:t>
            </a:r>
            <a:r>
              <a:rPr lang="es-MX" dirty="0" smtClean="0"/>
              <a:t> para establecer la comunicación entre Power BI y la base de datos MySQL alojada en </a:t>
            </a:r>
            <a:r>
              <a:rPr lang="es-MX" b="1" dirty="0" smtClean="0"/>
              <a:t>localhost</a:t>
            </a:r>
            <a:r>
              <a:rPr lang="es-MX" dirty="0" smtClean="0"/>
              <a:t>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41356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6566" cy="341606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567" y="3416060"/>
            <a:ext cx="6455434" cy="344194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5736566" y="0"/>
            <a:ext cx="645543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Paso 3. Seleccionar y cargar las tablas de la base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En el </a:t>
            </a:r>
            <a:r>
              <a:rPr lang="es-MX" b="1" dirty="0" smtClean="0"/>
              <a:t>Navegador</a:t>
            </a:r>
            <a:r>
              <a:rPr lang="es-MX" dirty="0" smtClean="0"/>
              <a:t> de Power BI se visualizaron las tablas disponibles de la base de datos MySQL.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seleccionaron las tablas necesarias para el análisis, como </a:t>
            </a:r>
            <a:r>
              <a:rPr lang="es-MX" b="1" dirty="0" smtClean="0"/>
              <a:t>Usuarios</a:t>
            </a:r>
            <a:r>
              <a:rPr lang="es-MX" dirty="0" smtClean="0"/>
              <a:t>, </a:t>
            </a:r>
            <a:r>
              <a:rPr lang="es-MX" b="1" dirty="0" smtClean="0"/>
              <a:t>Libros</a:t>
            </a:r>
            <a:r>
              <a:rPr lang="es-MX" dirty="0" smtClean="0"/>
              <a:t> y </a:t>
            </a:r>
            <a:r>
              <a:rPr lang="es-MX" b="1" dirty="0" smtClean="0"/>
              <a:t>Préstamos</a:t>
            </a:r>
            <a:r>
              <a:rPr lang="es-MX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Power BI mostró una vista previa de los registros para verificar que la información fuera correcta.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Finalmente, se hizo clic en </a:t>
            </a:r>
            <a:r>
              <a:rPr lang="es-MX" b="1" dirty="0" smtClean="0"/>
              <a:t>Cargar</a:t>
            </a:r>
            <a:r>
              <a:rPr lang="es-MX" dirty="0" smtClean="0"/>
              <a:t> para importar las tablas al modelo de datos.</a:t>
            </a:r>
          </a:p>
          <a:p>
            <a:endParaRPr lang="es-CO" dirty="0"/>
          </a:p>
        </p:txBody>
      </p:sp>
      <p:sp>
        <p:nvSpPr>
          <p:cNvPr id="7" name="CuadroTexto 6"/>
          <p:cNvSpPr txBox="1"/>
          <p:nvPr/>
        </p:nvSpPr>
        <p:spPr>
          <a:xfrm>
            <a:off x="81951" y="3693319"/>
            <a:ext cx="55726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Paso 4. Verificar la información importada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Una vez cargadas las tablas, Power BI mostró los datos en la </a:t>
            </a:r>
            <a:r>
              <a:rPr lang="es-MX" b="1" dirty="0" smtClean="0"/>
              <a:t>Vista de Datos</a:t>
            </a:r>
            <a:r>
              <a:rPr lang="es-MX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verificó que los registros y las columnas se hubieran importado correctamente.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Esta vista permite revisar la información antes de crear relaciones, realizar transformaciones o diseñar visualizaciones.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06541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33381" cy="340743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07434"/>
            <a:ext cx="6133381" cy="3450566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6452559" y="888521"/>
            <a:ext cx="45288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Paso 5. Verificación de las tablas importadas</a:t>
            </a:r>
          </a:p>
          <a:p>
            <a:endParaRPr lang="es-MX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Se revisó la tabla </a:t>
            </a:r>
            <a:r>
              <a:rPr lang="es-MX" b="1" dirty="0" smtClean="0"/>
              <a:t>Préstamos</a:t>
            </a:r>
            <a:r>
              <a:rPr lang="es-MX" dirty="0" smtClean="0"/>
              <a:t> para </a:t>
            </a:r>
          </a:p>
          <a:p>
            <a:r>
              <a:rPr lang="es-MX" dirty="0" smtClean="0"/>
              <a:t>comprobar que los registros y las fechas de préstamo y devolución se hubieran importado correctamente. </a:t>
            </a:r>
          </a:p>
          <a:p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Posteriormente, se verificó la tabla </a:t>
            </a:r>
            <a:r>
              <a:rPr lang="es-MX" b="1" dirty="0" smtClean="0"/>
              <a:t>Usuarios</a:t>
            </a:r>
            <a:r>
              <a:rPr lang="es-MX" dirty="0" smtClean="0"/>
              <a:t>, confirmando que la información de los empleados, como el nombre, dirección y teléfono, estuviera completa.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Esta validación garantiza que los datos se encuentren correctamente cargados antes de establecer las relaciones entre las tablas y realizar el análisis en Power BI.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745017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337</Words>
  <Application>Microsoft Office PowerPoint</Application>
  <PresentationFormat>Panorámica</PresentationFormat>
  <Paragraphs>36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SENA</dc:creator>
  <cp:lastModifiedBy>SENA</cp:lastModifiedBy>
  <cp:revision>6</cp:revision>
  <dcterms:created xsi:type="dcterms:W3CDTF">2026-07-21T12:43:42Z</dcterms:created>
  <dcterms:modified xsi:type="dcterms:W3CDTF">2026-07-21T15:07:01Z</dcterms:modified>
</cp:coreProperties>
</file>